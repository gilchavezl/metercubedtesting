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6"/>
    <p:sldId id="264" r:id="rId7"/>
    <p:sldId id="260" r:id="rId8"/>
    <p:sldId id="266" r:id="rId9"/>
    <p:sldId id="269" r:id="rId10"/>
    <p:sldId id="267" r:id="rId11"/>
    <p:sldId id="268" r:id="rId12"/>
    <p:sldId id="261" r:id="rId13"/>
    <p:sldId id="262" r:id="rId14"/>
    <p:sldId id="270" r:id="rId15"/>
    <p:sldId id="263"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15"/>
    <p:restoredTop sz="94719"/>
  </p:normalViewPr>
  <p:slideViewPr>
    <p:cSldViewPr snapToGrid="0">
      <p:cViewPr>
        <p:scale>
          <a:sx n="75" d="100"/>
          <a:sy n="75" d="100"/>
        </p:scale>
        <p:origin x="1320"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FF67B-20CA-FA56-405D-2D5C369FC7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E04949-CFFB-86E9-05D4-76699C3817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707A9B-1EA3-2B96-0C12-42558FCA5377}"/>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5" name="Footer Placeholder 4">
            <a:extLst>
              <a:ext uri="{FF2B5EF4-FFF2-40B4-BE49-F238E27FC236}">
                <a16:creationId xmlns:a16="http://schemas.microsoft.com/office/drawing/2014/main" id="{24B46B2B-A267-99A8-6E6D-5BB56ADD6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5F82C4-093A-1940-D488-77640FCC08D7}"/>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2530959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A218-3BAF-E918-8DDE-4699D5AC80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0A34E-BDA9-58DE-E0E1-3EAA0F983B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26C386-1B0D-46FE-6AD0-D2122B9EFEAD}"/>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5" name="Footer Placeholder 4">
            <a:extLst>
              <a:ext uri="{FF2B5EF4-FFF2-40B4-BE49-F238E27FC236}">
                <a16:creationId xmlns:a16="http://schemas.microsoft.com/office/drawing/2014/main" id="{A6E64F10-5856-1E4A-9E9E-5EF378086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AE57CE-57D2-6882-BCFF-6309E87F4BDF}"/>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166271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B643A-DB3A-E4EF-D604-5BD2A117DD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3E68A0D-9446-0EFD-EACA-60C8CA4C4C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CBB53E-2956-F4C0-7E11-5F8AE50442A3}"/>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5" name="Footer Placeholder 4">
            <a:extLst>
              <a:ext uri="{FF2B5EF4-FFF2-40B4-BE49-F238E27FC236}">
                <a16:creationId xmlns:a16="http://schemas.microsoft.com/office/drawing/2014/main" id="{4894C5B0-B064-521C-EDFA-CAC663930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CFBD4-4C80-B18E-2AD0-1B8CB2374942}"/>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3992189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68A91-5900-430B-16E0-027FED7F08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AD185D-71A8-B641-7214-079DF7E0FA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237EBA-FD7A-0D7C-2692-FABCFBDB68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BF2389-76E4-9D96-7EA0-6AE0DEE42BBC}"/>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6" name="Footer Placeholder 5">
            <a:extLst>
              <a:ext uri="{FF2B5EF4-FFF2-40B4-BE49-F238E27FC236}">
                <a16:creationId xmlns:a16="http://schemas.microsoft.com/office/drawing/2014/main" id="{F22BC279-674F-1011-58C2-4BE55BA8E9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7A641F-70CD-E4B7-DBC6-43185AF46693}"/>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2955602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A582B-3107-01D3-44F4-7A9E157E09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4EB6A3-AEBD-86E0-220F-459E7791BD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6D7FBE-C914-3EE7-7F1A-2972B19DA5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1A6BBC-1E42-DF64-D034-C004634ACE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FE2F60-51AA-62D6-DDDF-CC946138C9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40B4F-6A57-A92E-3078-14453845554A}"/>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8" name="Footer Placeholder 7">
            <a:extLst>
              <a:ext uri="{FF2B5EF4-FFF2-40B4-BE49-F238E27FC236}">
                <a16:creationId xmlns:a16="http://schemas.microsoft.com/office/drawing/2014/main" id="{4BFA4455-4CC4-12DE-F4B8-702DD23F2F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3607A6-2CD1-D89D-3AA1-614F8C9D60BD}"/>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735888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9C8F-C2B5-ED9D-0839-63AF006F5E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8A090-7528-167C-AF21-64EAE4F29463}"/>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4" name="Footer Placeholder 3">
            <a:extLst>
              <a:ext uri="{FF2B5EF4-FFF2-40B4-BE49-F238E27FC236}">
                <a16:creationId xmlns:a16="http://schemas.microsoft.com/office/drawing/2014/main" id="{B1C95BCC-FB1C-9F7B-6625-8102C1EA1A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9D0494-962C-84A2-793D-5B469A193F3A}"/>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2131368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3CD78D-817C-A817-751A-46EA18D7A0D6}"/>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3" name="Footer Placeholder 2">
            <a:extLst>
              <a:ext uri="{FF2B5EF4-FFF2-40B4-BE49-F238E27FC236}">
                <a16:creationId xmlns:a16="http://schemas.microsoft.com/office/drawing/2014/main" id="{BC5B1247-E0AE-8A73-3526-24CB613EAD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196898-47E0-BEB8-7589-31E0ED62ADF5}"/>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2510613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53C2-D64B-1E06-DC69-A822F6A653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F1ADCF-7DB1-A7F0-F755-67BAA652AD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6EA131-1B93-EF22-B7B0-A378B96020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0D178A-9447-525E-1D52-62F8615C49DF}"/>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6" name="Footer Placeholder 5">
            <a:extLst>
              <a:ext uri="{FF2B5EF4-FFF2-40B4-BE49-F238E27FC236}">
                <a16:creationId xmlns:a16="http://schemas.microsoft.com/office/drawing/2014/main" id="{C080398E-6B48-FCD0-BC41-EE8C9EECB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019F4-C305-3A63-5A15-1F58FCD76B17}"/>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2587672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39388-8122-499C-D6D5-75E41D38E8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EE0777-14E3-D6B8-5784-CE8E2B9231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3D8F71-2612-056B-E585-C1D6A7B5C6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C4EF9-46D6-69B8-CF3C-F1474FCE23F6}"/>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6" name="Footer Placeholder 5">
            <a:extLst>
              <a:ext uri="{FF2B5EF4-FFF2-40B4-BE49-F238E27FC236}">
                <a16:creationId xmlns:a16="http://schemas.microsoft.com/office/drawing/2014/main" id="{E6ECA2A9-5EE7-3800-6ACB-138AB7548B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D69A18-90A8-445A-8071-E8EE2B4C5CD6}"/>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3435949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7D0BB-B7D0-7060-0C25-A3041D4D8F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D18114-D1AE-DB54-BBB7-2275D048DA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8E6C5-21D7-4FA1-1617-283649B3A0F2}"/>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5" name="Footer Placeholder 4">
            <a:extLst>
              <a:ext uri="{FF2B5EF4-FFF2-40B4-BE49-F238E27FC236}">
                <a16:creationId xmlns:a16="http://schemas.microsoft.com/office/drawing/2014/main" id="{8544DABB-4FF5-0587-F2C3-5F93945E5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1C948-FED0-8DE9-1193-6248314DE785}"/>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2045457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644C3F-A31D-7CC2-32D3-3506886F43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6AAF77-975B-73E1-1FFE-77F7671ACB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BF01E-891D-1211-ED59-48E9FE3674CE}"/>
              </a:ext>
            </a:extLst>
          </p:cNvPr>
          <p:cNvSpPr>
            <a:spLocks noGrp="1"/>
          </p:cNvSpPr>
          <p:nvPr>
            <p:ph type="dt" sz="half" idx="10"/>
          </p:nvPr>
        </p:nvSpPr>
        <p:spPr/>
        <p:txBody>
          <a:bodyPr/>
          <a:lstStyle/>
          <a:p>
            <a:fld id="{22CF9A19-3956-9B47-98B7-0E070A01E20E}" type="datetimeFigureOut">
              <a:rPr lang="en-US" smtClean="0"/>
              <a:t>1/10/2025</a:t>
            </a:fld>
            <a:endParaRPr lang="en-US"/>
          </a:p>
        </p:txBody>
      </p:sp>
      <p:sp>
        <p:nvSpPr>
          <p:cNvPr id="5" name="Footer Placeholder 4">
            <a:extLst>
              <a:ext uri="{FF2B5EF4-FFF2-40B4-BE49-F238E27FC236}">
                <a16:creationId xmlns:a16="http://schemas.microsoft.com/office/drawing/2014/main" id="{4A7729EA-455D-4419-18E0-03071F5EA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E13F53-25CF-AEB7-3C6D-FE87389C7870}"/>
              </a:ext>
            </a:extLst>
          </p:cNvPr>
          <p:cNvSpPr>
            <a:spLocks noGrp="1"/>
          </p:cNvSpPr>
          <p:nvPr>
            <p:ph type="sldNum" sz="quarter" idx="12"/>
          </p:nvPr>
        </p:nvSpPr>
        <p:spPr/>
        <p:txBody>
          <a:bodyPr/>
          <a:lstStyle/>
          <a:p>
            <a:fld id="{E64B094C-1E29-3D40-B7AE-8968A2B43547}" type="slidenum">
              <a:rPr lang="en-US" smtClean="0"/>
              <a:t>‹#›</a:t>
            </a:fld>
            <a:endParaRPr lang="en-US"/>
          </a:p>
        </p:txBody>
      </p:sp>
    </p:spTree>
    <p:extLst>
      <p:ext uri="{BB962C8B-B14F-4D97-AF65-F5344CB8AC3E}">
        <p14:creationId xmlns:p14="http://schemas.microsoft.com/office/powerpoint/2010/main" val="4095619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9F77C-9439-45C2-5441-9E8D61CCC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995309-2750-0ADF-C318-C3CFFC3067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E15114-5CE3-658E-FD54-14D2DB95FF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CF9A19-3956-9B47-98B7-0E070A01E20E}" type="datetimeFigureOut">
              <a:rPr lang="en-US" smtClean="0"/>
              <a:t>1/10/2025</a:t>
            </a:fld>
            <a:endParaRPr lang="en-US"/>
          </a:p>
        </p:txBody>
      </p:sp>
      <p:sp>
        <p:nvSpPr>
          <p:cNvPr id="5" name="Footer Placeholder 4">
            <a:extLst>
              <a:ext uri="{FF2B5EF4-FFF2-40B4-BE49-F238E27FC236}">
                <a16:creationId xmlns:a16="http://schemas.microsoft.com/office/drawing/2014/main" id="{E51EDF70-522E-F9AF-2C17-955338724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DA07A3-4207-2580-394E-1B4C3C28D4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4B094C-1E29-3D40-B7AE-8968A2B43547}" type="slidenum">
              <a:rPr lang="en-US" smtClean="0"/>
              <a:t>‹#›</a:t>
            </a:fld>
            <a:endParaRPr lang="en-US"/>
          </a:p>
        </p:txBody>
      </p:sp>
    </p:spTree>
    <p:extLst>
      <p:ext uri="{BB962C8B-B14F-4D97-AF65-F5344CB8AC3E}">
        <p14:creationId xmlns:p14="http://schemas.microsoft.com/office/powerpoint/2010/main" val="3991110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428A-4652-AA6B-B809-F0B1ADB8025C}"/>
              </a:ext>
            </a:extLst>
          </p:cNvPr>
          <p:cNvSpPr>
            <a:spLocks noGrp="1"/>
          </p:cNvSpPr>
          <p:nvPr>
            <p:ph type="ctrTitle"/>
          </p:nvPr>
        </p:nvSpPr>
        <p:spPr>
          <a:xfrm>
            <a:off x="2590800" y="1214438"/>
            <a:ext cx="7010400" cy="2387600"/>
          </a:xfrm>
        </p:spPr>
        <p:txBody>
          <a:bodyPr/>
          <a:lstStyle/>
          <a:p>
            <a:r>
              <a:rPr lang="en-US" dirty="0"/>
              <a:t>Meter</a:t>
            </a:r>
            <a:r>
              <a:rPr lang="en-US" baseline="30000" dirty="0"/>
              <a:t>3</a:t>
            </a:r>
            <a:r>
              <a:rPr lang="en-US" dirty="0"/>
              <a:t> Thermocouple Swap Test</a:t>
            </a:r>
          </a:p>
        </p:txBody>
      </p:sp>
      <p:sp>
        <p:nvSpPr>
          <p:cNvPr id="3" name="Subtitle 2">
            <a:extLst>
              <a:ext uri="{FF2B5EF4-FFF2-40B4-BE49-F238E27FC236}">
                <a16:creationId xmlns:a16="http://schemas.microsoft.com/office/drawing/2014/main" id="{B6A7F771-C0BB-D82B-D9A7-1C5A3702750F}"/>
              </a:ext>
            </a:extLst>
          </p:cNvPr>
          <p:cNvSpPr>
            <a:spLocks noGrp="1"/>
          </p:cNvSpPr>
          <p:nvPr>
            <p:ph type="subTitle" idx="1"/>
          </p:nvPr>
        </p:nvSpPr>
        <p:spPr>
          <a:xfrm>
            <a:off x="1524000" y="3974279"/>
            <a:ext cx="9144000" cy="1655762"/>
          </a:xfrm>
        </p:spPr>
        <p:txBody>
          <a:bodyPr/>
          <a:lstStyle/>
          <a:p>
            <a:r>
              <a:rPr lang="en-US" dirty="0"/>
              <a:t>Nestor Garcia</a:t>
            </a:r>
          </a:p>
          <a:p>
            <a:r>
              <a:rPr lang="en-US" dirty="0"/>
              <a:t>Dec 4</a:t>
            </a:r>
            <a:r>
              <a:rPr lang="en-US" baseline="30000" dirty="0"/>
              <a:t>th</a:t>
            </a:r>
            <a:r>
              <a:rPr lang="en-US" dirty="0"/>
              <a:t>, 2024</a:t>
            </a:r>
          </a:p>
        </p:txBody>
      </p:sp>
    </p:spTree>
    <p:extLst>
      <p:ext uri="{BB962C8B-B14F-4D97-AF65-F5344CB8AC3E}">
        <p14:creationId xmlns:p14="http://schemas.microsoft.com/office/powerpoint/2010/main" val="974718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F10CD-3C0D-1D0C-2745-7A16390BFD0B}"/>
              </a:ext>
            </a:extLst>
          </p:cNvPr>
          <p:cNvSpPr>
            <a:spLocks noGrp="1"/>
          </p:cNvSpPr>
          <p:nvPr>
            <p:ph type="title"/>
          </p:nvPr>
        </p:nvSpPr>
        <p:spPr>
          <a:xfrm>
            <a:off x="838200" y="0"/>
            <a:ext cx="10515600" cy="1325563"/>
          </a:xfrm>
        </p:spPr>
        <p:txBody>
          <a:bodyPr/>
          <a:lstStyle/>
          <a:p>
            <a:r>
              <a:rPr lang="en-US" dirty="0"/>
              <a:t>Description</a:t>
            </a:r>
          </a:p>
        </p:txBody>
      </p:sp>
      <p:sp>
        <p:nvSpPr>
          <p:cNvPr id="3" name="Content Placeholder 2">
            <a:extLst>
              <a:ext uri="{FF2B5EF4-FFF2-40B4-BE49-F238E27FC236}">
                <a16:creationId xmlns:a16="http://schemas.microsoft.com/office/drawing/2014/main" id="{46B49F5C-F175-2754-4990-F18738201F08}"/>
              </a:ext>
            </a:extLst>
          </p:cNvPr>
          <p:cNvSpPr>
            <a:spLocks noGrp="1"/>
          </p:cNvSpPr>
          <p:nvPr>
            <p:ph idx="1"/>
          </p:nvPr>
        </p:nvSpPr>
        <p:spPr>
          <a:xfrm>
            <a:off x="838200" y="1325563"/>
            <a:ext cx="10515600" cy="5326290"/>
          </a:xfrm>
        </p:spPr>
        <p:txBody>
          <a:bodyPr>
            <a:normAutofit fontScale="92500" lnSpcReduction="20000"/>
          </a:bodyPr>
          <a:lstStyle/>
          <a:p>
            <a:pPr marL="0" indent="0">
              <a:buNone/>
            </a:pPr>
            <a:r>
              <a:rPr lang="en-US" b="1" dirty="0"/>
              <a:t>Purpose</a:t>
            </a:r>
            <a:r>
              <a:rPr lang="en-US" dirty="0"/>
              <a:t>: </a:t>
            </a:r>
            <a:r>
              <a:rPr lang="en-US" sz="2400" dirty="0"/>
              <a:t>To assess offsets stemming from the Thermal Instrumentation Cards (TICs) by eliminating potential contributions from thermocouples or the Isothermal Junction Box (IJB). Differences between Part 1 and Part 2 readings should reveal TIC-specific performance</a:t>
            </a:r>
            <a:endParaRPr lang="en-US" sz="2400" b="1" dirty="0"/>
          </a:p>
          <a:p>
            <a:pPr marL="0" indent="0">
              <a:buNone/>
            </a:pPr>
            <a:endParaRPr lang="en-US" sz="1200" b="1" dirty="0"/>
          </a:p>
          <a:p>
            <a:pPr marL="0" indent="0">
              <a:buNone/>
            </a:pPr>
            <a:r>
              <a:rPr lang="en-US" b="1" dirty="0"/>
              <a:t>Test Procedure</a:t>
            </a:r>
            <a:r>
              <a:rPr lang="en-US" dirty="0"/>
              <a:t>:</a:t>
            </a:r>
          </a:p>
          <a:p>
            <a:pPr lvl="1"/>
            <a:r>
              <a:rPr lang="en-US" b="1" dirty="0"/>
              <a:t>Part 1</a:t>
            </a:r>
            <a:r>
              <a:rPr lang="en-US" dirty="0"/>
              <a:t>: IJB thermocouple </a:t>
            </a:r>
            <a:r>
              <a:rPr lang="en-US" b="1" dirty="0"/>
              <a:t>Set A </a:t>
            </a:r>
            <a:r>
              <a:rPr lang="en-US" dirty="0"/>
              <a:t>connected to </a:t>
            </a:r>
            <a:r>
              <a:rPr lang="en-US" b="1" dirty="0"/>
              <a:t>TIC 0</a:t>
            </a:r>
            <a:r>
              <a:rPr lang="en-US" dirty="0"/>
              <a:t> and </a:t>
            </a:r>
            <a:r>
              <a:rPr lang="en-US" b="1" dirty="0"/>
              <a:t>Set B</a:t>
            </a:r>
            <a:r>
              <a:rPr lang="en-US" dirty="0"/>
              <a:t> connected to </a:t>
            </a:r>
            <a:r>
              <a:rPr lang="en-US" b="1" dirty="0"/>
              <a:t>TIC 1</a:t>
            </a:r>
            <a:r>
              <a:rPr lang="en-US" dirty="0"/>
              <a:t>. Data collected at room temperature alongside legacy thermocouples.</a:t>
            </a:r>
          </a:p>
          <a:p>
            <a:pPr lvl="1"/>
            <a:r>
              <a:rPr lang="en-US" b="1" dirty="0"/>
              <a:t>Part 2</a:t>
            </a:r>
            <a:r>
              <a:rPr lang="en-US" dirty="0"/>
              <a:t>: Swapped inputs — </a:t>
            </a:r>
            <a:r>
              <a:rPr lang="en-US" b="1" dirty="0"/>
              <a:t>Set A</a:t>
            </a:r>
            <a:r>
              <a:rPr lang="en-US" dirty="0"/>
              <a:t> now connects to </a:t>
            </a:r>
            <a:r>
              <a:rPr lang="en-US" b="1" dirty="0"/>
              <a:t>TIC 1</a:t>
            </a:r>
            <a:r>
              <a:rPr lang="en-US" dirty="0"/>
              <a:t> and </a:t>
            </a:r>
            <a:r>
              <a:rPr lang="en-US" b="1" dirty="0"/>
              <a:t>Set B</a:t>
            </a:r>
            <a:r>
              <a:rPr lang="en-US" dirty="0"/>
              <a:t> to </a:t>
            </a:r>
            <a:r>
              <a:rPr lang="en-US" b="1" dirty="0"/>
              <a:t>TIC 0</a:t>
            </a:r>
            <a:r>
              <a:rPr lang="en-US" dirty="0"/>
              <a:t>. Data collection continued.</a:t>
            </a:r>
          </a:p>
          <a:p>
            <a:pPr lvl="1"/>
            <a:r>
              <a:rPr lang="en-US" b="1" dirty="0"/>
              <a:t>Part 3</a:t>
            </a:r>
            <a:r>
              <a:rPr lang="en-US" dirty="0"/>
              <a:t>: Swap back — </a:t>
            </a:r>
            <a:r>
              <a:rPr lang="en-US" b="1" dirty="0"/>
              <a:t>Set A</a:t>
            </a:r>
            <a:r>
              <a:rPr lang="en-US" dirty="0"/>
              <a:t> now connects back to </a:t>
            </a:r>
            <a:r>
              <a:rPr lang="en-US" b="1" dirty="0"/>
              <a:t>TIC 0</a:t>
            </a:r>
            <a:r>
              <a:rPr lang="en-US" dirty="0"/>
              <a:t> and </a:t>
            </a:r>
            <a:r>
              <a:rPr lang="en-US" b="1" dirty="0"/>
              <a:t>Set B</a:t>
            </a:r>
            <a:r>
              <a:rPr lang="en-US" dirty="0"/>
              <a:t> back to </a:t>
            </a:r>
            <a:r>
              <a:rPr lang="en-US" b="1" dirty="0"/>
              <a:t>TIC 1</a:t>
            </a:r>
            <a:r>
              <a:rPr lang="en-US" dirty="0"/>
              <a:t>. Data collection continued.</a:t>
            </a:r>
          </a:p>
          <a:p>
            <a:pPr marL="457200" lvl="1" indent="0">
              <a:buNone/>
            </a:pPr>
            <a:endParaRPr lang="en-US" sz="1400" b="1" dirty="0"/>
          </a:p>
          <a:p>
            <a:pPr marL="0" indent="0">
              <a:buNone/>
            </a:pPr>
            <a:r>
              <a:rPr lang="en-US" b="1" dirty="0"/>
              <a:t>Additional Details</a:t>
            </a:r>
            <a:r>
              <a:rPr lang="en-US" dirty="0"/>
              <a:t>:</a:t>
            </a:r>
          </a:p>
          <a:p>
            <a:pPr lvl="1"/>
            <a:r>
              <a:rPr lang="en-US" dirty="0"/>
              <a:t>The test was conducted twice, approximately 24 hours apart, to assess repeatability and stability of the data and TIC performance.</a:t>
            </a:r>
          </a:p>
          <a:p>
            <a:pPr lvl="1"/>
            <a:r>
              <a:rPr lang="en-US" dirty="0"/>
              <a:t>The procedure will also be repeated at high temperatures in the upcoming weeks.</a:t>
            </a:r>
          </a:p>
          <a:p>
            <a:pPr lvl="1"/>
            <a:r>
              <a:rPr lang="en-US" dirty="0"/>
              <a:t>Diagram and results are presented in the following slides.</a:t>
            </a:r>
          </a:p>
        </p:txBody>
      </p:sp>
    </p:spTree>
    <p:extLst>
      <p:ext uri="{BB962C8B-B14F-4D97-AF65-F5344CB8AC3E}">
        <p14:creationId xmlns:p14="http://schemas.microsoft.com/office/powerpoint/2010/main" val="904017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7E5656-5A86-76CA-8C61-875C5A08B8FC}"/>
              </a:ext>
            </a:extLst>
          </p:cNvPr>
          <p:cNvSpPr txBox="1"/>
          <p:nvPr/>
        </p:nvSpPr>
        <p:spPr>
          <a:xfrm>
            <a:off x="1028700"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300" kern="1200" dirty="0">
                <a:solidFill>
                  <a:srgbClr val="FFFFFF"/>
                </a:solidFill>
                <a:latin typeface="+mj-lt"/>
                <a:ea typeface="+mj-ea"/>
                <a:cs typeface="+mj-cs"/>
              </a:rPr>
              <a:t>Figure depicting the configuration changes.</a:t>
            </a:r>
          </a:p>
        </p:txBody>
      </p:sp>
      <p:pic>
        <p:nvPicPr>
          <p:cNvPr id="5" name="Content Placeholder 4" descr="A diagram of a diagram of a temperature control system&#10;&#10;Description automatically generated with medium confidence">
            <a:extLst>
              <a:ext uri="{FF2B5EF4-FFF2-40B4-BE49-F238E27FC236}">
                <a16:creationId xmlns:a16="http://schemas.microsoft.com/office/drawing/2014/main" id="{15EAFA32-5A0D-94B2-FF1C-6DB5777B4CC0}"/>
              </a:ext>
            </a:extLst>
          </p:cNvPr>
          <p:cNvPicPr>
            <a:picLocks noGrp="1" noChangeAspect="1"/>
          </p:cNvPicPr>
          <p:nvPr>
            <p:ph idx="1"/>
          </p:nvPr>
        </p:nvPicPr>
        <p:blipFill>
          <a:blip r:embed="rId2"/>
          <a:stretch>
            <a:fillRect/>
          </a:stretch>
        </p:blipFill>
        <p:spPr>
          <a:xfrm>
            <a:off x="5229017" y="643466"/>
            <a:ext cx="5877297" cy="5568739"/>
          </a:xfrm>
          <a:prstGeom prst="rect">
            <a:avLst/>
          </a:prstGeom>
        </p:spPr>
      </p:pic>
    </p:spTree>
    <p:extLst>
      <p:ext uri="{BB962C8B-B14F-4D97-AF65-F5344CB8AC3E}">
        <p14:creationId xmlns:p14="http://schemas.microsoft.com/office/powerpoint/2010/main" val="394971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9E83-4207-359D-0A76-6FA0FECAF8E7}"/>
              </a:ext>
            </a:extLst>
          </p:cNvPr>
          <p:cNvSpPr>
            <a:spLocks noGrp="1"/>
          </p:cNvSpPr>
          <p:nvPr>
            <p:ph type="title"/>
          </p:nvPr>
        </p:nvSpPr>
        <p:spPr>
          <a:xfrm>
            <a:off x="838200" y="18255"/>
            <a:ext cx="10515600" cy="1325563"/>
          </a:xfrm>
        </p:spPr>
        <p:txBody>
          <a:bodyPr/>
          <a:lstStyle/>
          <a:p>
            <a:r>
              <a:rPr lang="en-US" dirty="0"/>
              <a:t>Room Temperature Data Details (~20°C)</a:t>
            </a:r>
          </a:p>
        </p:txBody>
      </p:sp>
      <p:sp>
        <p:nvSpPr>
          <p:cNvPr id="3" name="Content Placeholder 2">
            <a:extLst>
              <a:ext uri="{FF2B5EF4-FFF2-40B4-BE49-F238E27FC236}">
                <a16:creationId xmlns:a16="http://schemas.microsoft.com/office/drawing/2014/main" id="{506C85C1-7F65-06C4-B9F4-F32B01B58D0F}"/>
              </a:ext>
            </a:extLst>
          </p:cNvPr>
          <p:cNvSpPr>
            <a:spLocks noGrp="1"/>
          </p:cNvSpPr>
          <p:nvPr>
            <p:ph idx="1"/>
          </p:nvPr>
        </p:nvSpPr>
        <p:spPr>
          <a:xfrm>
            <a:off x="838200" y="1343818"/>
            <a:ext cx="10515600" cy="4351338"/>
          </a:xfrm>
        </p:spPr>
        <p:txBody>
          <a:bodyPr/>
          <a:lstStyle/>
          <a:p>
            <a:r>
              <a:rPr lang="en-US" dirty="0"/>
              <a:t>New System is sampled at ~ 1- second intervals; Legacy System is sampled every 60 seconds.</a:t>
            </a:r>
          </a:p>
          <a:p>
            <a:r>
              <a:rPr lang="en-US" dirty="0"/>
              <a:t>Applied a moving mean filter to New System data (average of 60 data points = 1 minute).</a:t>
            </a:r>
          </a:p>
          <a:p>
            <a:r>
              <a:rPr lang="en-US" dirty="0"/>
              <a:t>Thermocouple reference format: TC[A][B], where A is the TIC number and B is the TIC TC channel.</a:t>
            </a:r>
          </a:p>
          <a:p>
            <a:pPr lvl="1"/>
            <a:r>
              <a:rPr lang="en-US" dirty="0"/>
              <a:t>Ex. TC01 is a thermocouple connected to TIC 0, channel 1. </a:t>
            </a:r>
          </a:p>
          <a:p>
            <a:pPr lvl="1"/>
            <a:endParaRPr lang="en-US" dirty="0"/>
          </a:p>
          <a:p>
            <a:pPr lvl="1"/>
            <a:endParaRPr lang="en-US" dirty="0"/>
          </a:p>
        </p:txBody>
      </p:sp>
    </p:spTree>
    <p:extLst>
      <p:ext uri="{BB962C8B-B14F-4D97-AF65-F5344CB8AC3E}">
        <p14:creationId xmlns:p14="http://schemas.microsoft.com/office/powerpoint/2010/main" val="172515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3F5ED-181F-ECC0-B977-812876D1385D}"/>
              </a:ext>
            </a:extLst>
          </p:cNvPr>
          <p:cNvSpPr>
            <a:spLocks noGrp="1"/>
          </p:cNvSpPr>
          <p:nvPr>
            <p:ph type="title"/>
          </p:nvPr>
        </p:nvSpPr>
        <p:spPr>
          <a:xfrm>
            <a:off x="838200" y="0"/>
            <a:ext cx="10515600" cy="1325563"/>
          </a:xfrm>
        </p:spPr>
        <p:txBody>
          <a:bodyPr/>
          <a:lstStyle/>
          <a:p>
            <a:r>
              <a:rPr lang="en-US" dirty="0"/>
              <a:t>Plot Details</a:t>
            </a:r>
          </a:p>
        </p:txBody>
      </p:sp>
      <p:sp>
        <p:nvSpPr>
          <p:cNvPr id="3" name="Content Placeholder 2">
            <a:extLst>
              <a:ext uri="{FF2B5EF4-FFF2-40B4-BE49-F238E27FC236}">
                <a16:creationId xmlns:a16="http://schemas.microsoft.com/office/drawing/2014/main" id="{E22D16B6-E15C-1301-029B-F6B195FF8786}"/>
              </a:ext>
            </a:extLst>
          </p:cNvPr>
          <p:cNvSpPr>
            <a:spLocks noGrp="1"/>
          </p:cNvSpPr>
          <p:nvPr>
            <p:ph idx="1"/>
          </p:nvPr>
        </p:nvSpPr>
        <p:spPr>
          <a:xfrm>
            <a:off x="838200" y="1325563"/>
            <a:ext cx="6153807" cy="4977196"/>
          </a:xfrm>
        </p:spPr>
        <p:txBody>
          <a:bodyPr>
            <a:normAutofit fontScale="85000" lnSpcReduction="20000"/>
          </a:bodyPr>
          <a:lstStyle/>
          <a:p>
            <a:pPr marL="0" indent="0">
              <a:buNone/>
            </a:pPr>
            <a:r>
              <a:rPr lang="en-US" b="1" dirty="0"/>
              <a:t>Distinguishing between TICs</a:t>
            </a:r>
          </a:p>
          <a:p>
            <a:pPr lvl="1"/>
            <a:r>
              <a:rPr lang="en-US" dirty="0"/>
              <a:t>TIC 0 lines are solid</a:t>
            </a:r>
          </a:p>
          <a:p>
            <a:pPr lvl="1"/>
            <a:r>
              <a:rPr lang="en-US" dirty="0"/>
              <a:t>TIC 1 lines are dashed</a:t>
            </a:r>
          </a:p>
          <a:p>
            <a:pPr lvl="1"/>
            <a:endParaRPr lang="en-US" dirty="0"/>
          </a:p>
          <a:p>
            <a:pPr marL="0" indent="0">
              <a:buNone/>
            </a:pPr>
            <a:r>
              <a:rPr lang="en-US" b="1" dirty="0"/>
              <a:t>Distinguishing between TIC channels</a:t>
            </a:r>
          </a:p>
          <a:p>
            <a:pPr lvl="1"/>
            <a:r>
              <a:rPr lang="en-US" dirty="0"/>
              <a:t>Channels are assigned a specific color</a:t>
            </a:r>
          </a:p>
          <a:p>
            <a:pPr lvl="2"/>
            <a:r>
              <a:rPr lang="en-US" dirty="0"/>
              <a:t>Ex. TC00 and TC10 are both green. </a:t>
            </a:r>
          </a:p>
          <a:p>
            <a:endParaRPr lang="en-US" dirty="0"/>
          </a:p>
          <a:p>
            <a:pPr marL="0" indent="0">
              <a:buNone/>
            </a:pPr>
            <a:r>
              <a:rPr lang="en-US" b="1" dirty="0"/>
              <a:t>Distinguishing between Bundles</a:t>
            </a:r>
          </a:p>
          <a:p>
            <a:pPr lvl="1"/>
            <a:r>
              <a:rPr lang="en-US" dirty="0"/>
              <a:t>Bundles are identified by markers and noted explicitly on the slide.</a:t>
            </a:r>
          </a:p>
          <a:p>
            <a:pPr lvl="2"/>
            <a:r>
              <a:rPr lang="en-US" dirty="0"/>
              <a:t>Bundle 1 = ‘ . ’</a:t>
            </a:r>
          </a:p>
          <a:p>
            <a:pPr lvl="2"/>
            <a:r>
              <a:rPr lang="en-US" dirty="0"/>
              <a:t>Bundle 2 = ‘ x ‘</a:t>
            </a:r>
          </a:p>
          <a:p>
            <a:pPr lvl="2"/>
            <a:r>
              <a:rPr lang="en-US" dirty="0"/>
              <a:t>Bundle 3 = ‘star’</a:t>
            </a:r>
          </a:p>
          <a:p>
            <a:endParaRPr lang="en-US" dirty="0"/>
          </a:p>
          <a:p>
            <a:pPr marL="0" indent="0">
              <a:buNone/>
            </a:pPr>
            <a:r>
              <a:rPr lang="en-US" b="1" dirty="0"/>
              <a:t>Refer to plot legend for additional details. </a:t>
            </a:r>
          </a:p>
          <a:p>
            <a:pPr marL="0" indent="0">
              <a:buNone/>
            </a:pPr>
            <a:endParaRPr lang="en-US" dirty="0"/>
          </a:p>
        </p:txBody>
      </p:sp>
      <p:pic>
        <p:nvPicPr>
          <p:cNvPr id="5" name="Picture 4" descr="A close-up of a computer screen&#10;&#10;Description automatically generated">
            <a:extLst>
              <a:ext uri="{FF2B5EF4-FFF2-40B4-BE49-F238E27FC236}">
                <a16:creationId xmlns:a16="http://schemas.microsoft.com/office/drawing/2014/main" id="{7A11A84D-7B34-89FA-0721-43288FE602F7}"/>
              </a:ext>
            </a:extLst>
          </p:cNvPr>
          <p:cNvPicPr>
            <a:picLocks noChangeAspect="1"/>
          </p:cNvPicPr>
          <p:nvPr/>
        </p:nvPicPr>
        <p:blipFill>
          <a:blip r:embed="rId2"/>
          <a:stretch>
            <a:fillRect/>
          </a:stretch>
        </p:blipFill>
        <p:spPr>
          <a:xfrm>
            <a:off x="9035393" y="1825625"/>
            <a:ext cx="2082800" cy="4216400"/>
          </a:xfrm>
          <a:prstGeom prst="rect">
            <a:avLst/>
          </a:prstGeom>
        </p:spPr>
      </p:pic>
      <p:sp>
        <p:nvSpPr>
          <p:cNvPr id="6" name="TextBox 5">
            <a:extLst>
              <a:ext uri="{FF2B5EF4-FFF2-40B4-BE49-F238E27FC236}">
                <a16:creationId xmlns:a16="http://schemas.microsoft.com/office/drawing/2014/main" id="{0DDC9758-CC9C-B0DB-4EA9-B7806F6E1D62}"/>
              </a:ext>
            </a:extLst>
          </p:cNvPr>
          <p:cNvSpPr txBox="1"/>
          <p:nvPr/>
        </p:nvSpPr>
        <p:spPr>
          <a:xfrm>
            <a:off x="9167648" y="1434662"/>
            <a:ext cx="1773621" cy="461665"/>
          </a:xfrm>
          <a:prstGeom prst="rect">
            <a:avLst/>
          </a:prstGeom>
          <a:noFill/>
        </p:spPr>
        <p:txBody>
          <a:bodyPr wrap="square" rtlCol="0">
            <a:spAutoFit/>
          </a:bodyPr>
          <a:lstStyle/>
          <a:p>
            <a:pPr algn="ctr"/>
            <a:r>
              <a:rPr lang="en-US" sz="2400" b="1" i="1" dirty="0"/>
              <a:t>Legend</a:t>
            </a:r>
          </a:p>
        </p:txBody>
      </p:sp>
    </p:spTree>
    <p:extLst>
      <p:ext uri="{BB962C8B-B14F-4D97-AF65-F5344CB8AC3E}">
        <p14:creationId xmlns:p14="http://schemas.microsoft.com/office/powerpoint/2010/main" val="1609942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4AA877D-8A8C-1D6A-EE3A-D9116A23FFD5}"/>
              </a:ext>
            </a:extLst>
          </p:cNvPr>
          <p:cNvPicPr>
            <a:picLocks noGrp="1" noRot="1" noChangeAspect="1" noMove="1" noResize="1" noEditPoints="1" noAdjustHandles="1" noChangeArrowheads="1" noChangeShapeType="1" noCrop="1"/>
          </p:cNvPicPr>
          <p:nvPr>
            <p:ph idx="1"/>
          </p:nvPr>
        </p:nvPicPr>
        <p:blipFill>
          <a:blip r:embed="rId2"/>
          <a:srcRect/>
          <a:stretch/>
        </p:blipFill>
        <p:spPr>
          <a:xfrm>
            <a:off x="-457201" y="5908"/>
            <a:ext cx="11704512" cy="6688293"/>
          </a:xfrm>
        </p:spPr>
      </p:pic>
      <p:sp>
        <p:nvSpPr>
          <p:cNvPr id="23" name="TextBox 22">
            <a:extLst>
              <a:ext uri="{FF2B5EF4-FFF2-40B4-BE49-F238E27FC236}">
                <a16:creationId xmlns:a16="http://schemas.microsoft.com/office/drawing/2014/main" id="{5FEF5272-8CF2-9E44-B424-62262DAF50CE}"/>
              </a:ext>
            </a:extLst>
          </p:cNvPr>
          <p:cNvSpPr txBox="1">
            <a:spLocks noGrp="1" noRot="1" noMove="1" noResize="1" noEditPoints="1" noAdjustHandles="1" noChangeArrowheads="1" noChangeShapeType="1"/>
          </p:cNvSpPr>
          <p:nvPr/>
        </p:nvSpPr>
        <p:spPr>
          <a:xfrm>
            <a:off x="5238384" y="1786103"/>
            <a:ext cx="1327453" cy="369332"/>
          </a:xfrm>
          <a:prstGeom prst="rect">
            <a:avLst/>
          </a:prstGeom>
          <a:noFill/>
        </p:spPr>
        <p:txBody>
          <a:bodyPr wrap="square" rtlCol="0">
            <a:spAutoFit/>
          </a:bodyPr>
          <a:lstStyle/>
          <a:p>
            <a:r>
              <a:rPr lang="en-US" dirty="0">
                <a:solidFill>
                  <a:srgbClr val="C00000"/>
                </a:solidFill>
              </a:rPr>
              <a:t>~ 19.58 °C </a:t>
            </a:r>
          </a:p>
        </p:txBody>
      </p:sp>
      <p:sp>
        <p:nvSpPr>
          <p:cNvPr id="24" name="TextBox 23">
            <a:extLst>
              <a:ext uri="{FF2B5EF4-FFF2-40B4-BE49-F238E27FC236}">
                <a16:creationId xmlns:a16="http://schemas.microsoft.com/office/drawing/2014/main" id="{E4510A3B-82A6-032F-D173-F6D7F6CAADD7}"/>
              </a:ext>
            </a:extLst>
          </p:cNvPr>
          <p:cNvSpPr txBox="1">
            <a:spLocks noGrp="1" noRot="1" noMove="1" noResize="1" noEditPoints="1" noAdjustHandles="1" noChangeArrowheads="1" noChangeShapeType="1"/>
          </p:cNvSpPr>
          <p:nvPr/>
        </p:nvSpPr>
        <p:spPr>
          <a:xfrm>
            <a:off x="10871135" y="906432"/>
            <a:ext cx="1327453" cy="523220"/>
          </a:xfrm>
          <a:prstGeom prst="rect">
            <a:avLst/>
          </a:prstGeom>
          <a:noFill/>
        </p:spPr>
        <p:txBody>
          <a:bodyPr wrap="square" rtlCol="0">
            <a:spAutoFit/>
          </a:bodyPr>
          <a:lstStyle/>
          <a:p>
            <a:r>
              <a:rPr lang="en-US" dirty="0">
                <a:solidFill>
                  <a:srgbClr val="C00000"/>
                </a:solidFill>
              </a:rPr>
              <a:t>Bundle 1</a:t>
            </a:r>
          </a:p>
          <a:p>
            <a:r>
              <a:rPr lang="el-GR" sz="1000" b="0" i="0" dirty="0">
                <a:solidFill>
                  <a:srgbClr val="C00000"/>
                </a:solidFill>
                <a:effectLst/>
                <a:latin typeface="Google Sans"/>
              </a:rPr>
              <a:t>Δ</a:t>
            </a:r>
            <a:r>
              <a:rPr lang="en-US" sz="1000" b="0" i="0" dirty="0" err="1">
                <a:solidFill>
                  <a:srgbClr val="C00000"/>
                </a:solidFill>
                <a:effectLst/>
                <a:latin typeface="Google Sans"/>
              </a:rPr>
              <a:t>T</a:t>
            </a:r>
            <a:r>
              <a:rPr lang="en-US" sz="1000" b="0" i="0" baseline="-25000" dirty="0" err="1">
                <a:solidFill>
                  <a:srgbClr val="C00000"/>
                </a:solidFill>
                <a:effectLst/>
                <a:latin typeface="Google Sans"/>
              </a:rPr>
              <a:t>New</a:t>
            </a:r>
            <a:r>
              <a:rPr lang="en-US" sz="1000" b="0" i="0" baseline="-25000" dirty="0">
                <a:solidFill>
                  <a:srgbClr val="C00000"/>
                </a:solidFill>
                <a:effectLst/>
                <a:latin typeface="Google Sans"/>
              </a:rPr>
              <a:t> – Legacy</a:t>
            </a:r>
            <a:r>
              <a:rPr lang="en-US" sz="1000" b="0" i="0" dirty="0">
                <a:solidFill>
                  <a:srgbClr val="C00000"/>
                </a:solidFill>
                <a:effectLst/>
                <a:latin typeface="Google Sans"/>
              </a:rPr>
              <a:t> ~ 0.37 </a:t>
            </a:r>
            <a:r>
              <a:rPr lang="en-US" sz="1000" dirty="0">
                <a:solidFill>
                  <a:srgbClr val="C00000"/>
                </a:solidFill>
              </a:rPr>
              <a:t>°C </a:t>
            </a:r>
          </a:p>
        </p:txBody>
      </p:sp>
      <p:cxnSp>
        <p:nvCxnSpPr>
          <p:cNvPr id="27" name="Straight Arrow Connector 26">
            <a:extLst>
              <a:ext uri="{FF2B5EF4-FFF2-40B4-BE49-F238E27FC236}">
                <a16:creationId xmlns:a16="http://schemas.microsoft.com/office/drawing/2014/main" id="{CC4AD33A-F745-2F7C-416C-2CB6D97F28AC}"/>
              </a:ext>
            </a:extLst>
          </p:cNvPr>
          <p:cNvCxnSpPr>
            <a:cxnSpLocks noGrp="1" noRot="1" noMove="1" noResize="1" noEditPoints="1" noAdjustHandles="1" noChangeArrowheads="1" noChangeShapeType="1"/>
            <a:stCxn id="24" idx="1"/>
            <a:endCxn id="42" idx="6"/>
          </p:cNvCxnSpPr>
          <p:nvPr/>
        </p:nvCxnSpPr>
        <p:spPr>
          <a:xfrm flipH="1" flipV="1">
            <a:off x="9782975" y="758154"/>
            <a:ext cx="1088160" cy="409888"/>
          </a:xfrm>
          <a:prstGeom prst="straightConnector1">
            <a:avLst/>
          </a:prstGeom>
          <a:ln>
            <a:solidFill>
              <a:srgbClr val="C00000"/>
            </a:solidFill>
            <a:tailEnd type="triangle"/>
          </a:ln>
        </p:spPr>
        <p:style>
          <a:lnRef idx="2">
            <a:schemeClr val="accent3"/>
          </a:lnRef>
          <a:fillRef idx="0">
            <a:schemeClr val="accent3"/>
          </a:fillRef>
          <a:effectRef idx="1">
            <a:schemeClr val="accent3"/>
          </a:effectRef>
          <a:fontRef idx="minor">
            <a:schemeClr val="tx1"/>
          </a:fontRef>
        </p:style>
      </p:cxnSp>
      <p:cxnSp>
        <p:nvCxnSpPr>
          <p:cNvPr id="30" name="Straight Arrow Connector 29">
            <a:extLst>
              <a:ext uri="{FF2B5EF4-FFF2-40B4-BE49-F238E27FC236}">
                <a16:creationId xmlns:a16="http://schemas.microsoft.com/office/drawing/2014/main" id="{34DD44DC-611F-A82C-97FA-91C2AF2F43C9}"/>
              </a:ext>
            </a:extLst>
          </p:cNvPr>
          <p:cNvCxnSpPr>
            <a:cxnSpLocks noGrp="1" noRot="1" noMove="1" noResize="1" noEditPoints="1" noAdjustHandles="1" noChangeArrowheads="1" noChangeShapeType="1"/>
            <a:stCxn id="24" idx="1"/>
          </p:cNvCxnSpPr>
          <p:nvPr/>
        </p:nvCxnSpPr>
        <p:spPr>
          <a:xfrm flipH="1">
            <a:off x="9406799" y="1168042"/>
            <a:ext cx="1464336" cy="900524"/>
          </a:xfrm>
          <a:prstGeom prst="straightConnector1">
            <a:avLst/>
          </a:prstGeom>
          <a:ln>
            <a:solidFill>
              <a:srgbClr val="C00000"/>
            </a:solidFill>
            <a:tailEnd type="triangle"/>
          </a:ln>
        </p:spPr>
        <p:style>
          <a:lnRef idx="2">
            <a:schemeClr val="accent3"/>
          </a:lnRef>
          <a:fillRef idx="0">
            <a:schemeClr val="accent3"/>
          </a:fillRef>
          <a:effectRef idx="1">
            <a:schemeClr val="accent3"/>
          </a:effectRef>
          <a:fontRef idx="minor">
            <a:schemeClr val="tx1"/>
          </a:fontRef>
        </p:style>
      </p:cxnSp>
      <p:cxnSp>
        <p:nvCxnSpPr>
          <p:cNvPr id="33" name="Straight Arrow Connector 32">
            <a:extLst>
              <a:ext uri="{FF2B5EF4-FFF2-40B4-BE49-F238E27FC236}">
                <a16:creationId xmlns:a16="http://schemas.microsoft.com/office/drawing/2014/main" id="{8FB58E1C-05CF-C744-F780-1A76D62F8037}"/>
              </a:ext>
            </a:extLst>
          </p:cNvPr>
          <p:cNvCxnSpPr>
            <a:cxnSpLocks noGrp="1" noRot="1" noMove="1" noResize="1" noEditPoints="1" noAdjustHandles="1" noChangeArrowheads="1" noChangeShapeType="1"/>
            <a:stCxn id="79" idx="1"/>
            <a:endCxn id="43" idx="6"/>
          </p:cNvCxnSpPr>
          <p:nvPr/>
        </p:nvCxnSpPr>
        <p:spPr>
          <a:xfrm flipH="1">
            <a:off x="9782975" y="2968075"/>
            <a:ext cx="1081572" cy="37108"/>
          </a:xfrm>
          <a:prstGeom prst="straightConnector1">
            <a:avLst/>
          </a:prstGeom>
          <a:ln>
            <a:solidFill>
              <a:schemeClr val="tx2">
                <a:lumMod val="75000"/>
                <a:lumOff val="25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36" name="Straight Arrow Connector 35">
            <a:extLst>
              <a:ext uri="{FF2B5EF4-FFF2-40B4-BE49-F238E27FC236}">
                <a16:creationId xmlns:a16="http://schemas.microsoft.com/office/drawing/2014/main" id="{D5D99B28-436F-E8C2-041C-B283EA4018EB}"/>
              </a:ext>
            </a:extLst>
          </p:cNvPr>
          <p:cNvCxnSpPr>
            <a:cxnSpLocks noGrp="1" noRot="1" noMove="1" noResize="1" noEditPoints="1" noAdjustHandles="1" noChangeArrowheads="1" noChangeShapeType="1"/>
            <a:stCxn id="79" idx="1"/>
          </p:cNvCxnSpPr>
          <p:nvPr/>
        </p:nvCxnSpPr>
        <p:spPr>
          <a:xfrm flipH="1">
            <a:off x="9400211" y="2968075"/>
            <a:ext cx="1464336" cy="1047985"/>
          </a:xfrm>
          <a:prstGeom prst="straightConnector1">
            <a:avLst/>
          </a:prstGeom>
          <a:ln>
            <a:solidFill>
              <a:schemeClr val="tx2">
                <a:lumMod val="75000"/>
                <a:lumOff val="25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39" name="Straight Arrow Connector 38">
            <a:extLst>
              <a:ext uri="{FF2B5EF4-FFF2-40B4-BE49-F238E27FC236}">
                <a16:creationId xmlns:a16="http://schemas.microsoft.com/office/drawing/2014/main" id="{BCAA2DA1-0EDF-BD51-DCF6-4A72A86F8013}"/>
              </a:ext>
            </a:extLst>
          </p:cNvPr>
          <p:cNvCxnSpPr>
            <a:cxnSpLocks noGrp="1" noRot="1" noMove="1" noResize="1" noEditPoints="1" noAdjustHandles="1" noChangeArrowheads="1" noChangeShapeType="1"/>
            <a:stCxn id="85" idx="1"/>
            <a:endCxn id="44" idx="6"/>
          </p:cNvCxnSpPr>
          <p:nvPr/>
        </p:nvCxnSpPr>
        <p:spPr>
          <a:xfrm flipH="1" flipV="1">
            <a:off x="9782975" y="4016060"/>
            <a:ext cx="1088160" cy="61350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0B345F32-9A92-F720-79AA-CC8E4E4509AA}"/>
              </a:ext>
            </a:extLst>
          </p:cNvPr>
          <p:cNvSpPr>
            <a:spLocks noGrp="1" noRot="1" noMove="1" noResize="1" noEditPoints="1" noAdjustHandles="1" noChangeArrowheads="1" noChangeShapeType="1"/>
          </p:cNvSpPr>
          <p:nvPr/>
        </p:nvSpPr>
        <p:spPr>
          <a:xfrm>
            <a:off x="9606053" y="599986"/>
            <a:ext cx="176922" cy="316335"/>
          </a:xfrm>
          <a:prstGeom prst="ellipse">
            <a:avLst/>
          </a:prstGeom>
          <a:noFill/>
          <a:ln>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3" name="Oval 42">
            <a:extLst>
              <a:ext uri="{FF2B5EF4-FFF2-40B4-BE49-F238E27FC236}">
                <a16:creationId xmlns:a16="http://schemas.microsoft.com/office/drawing/2014/main" id="{7DB795C9-02F1-B613-82E5-38DDC61707CE}"/>
              </a:ext>
            </a:extLst>
          </p:cNvPr>
          <p:cNvSpPr>
            <a:spLocks noGrp="1" noRot="1" noMove="1" noResize="1" noEditPoints="1" noAdjustHandles="1" noChangeArrowheads="1" noChangeShapeType="1"/>
          </p:cNvSpPr>
          <p:nvPr/>
        </p:nvSpPr>
        <p:spPr>
          <a:xfrm>
            <a:off x="9606053" y="2847015"/>
            <a:ext cx="176922" cy="316335"/>
          </a:xfrm>
          <a:prstGeom prst="ellipse">
            <a:avLst/>
          </a:prstGeom>
          <a:noFill/>
          <a:ln>
            <a:solidFill>
              <a:schemeClr val="tx2">
                <a:lumMod val="75000"/>
                <a:lumOff val="2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4" name="Oval 43">
            <a:extLst>
              <a:ext uri="{FF2B5EF4-FFF2-40B4-BE49-F238E27FC236}">
                <a16:creationId xmlns:a16="http://schemas.microsoft.com/office/drawing/2014/main" id="{BA87973E-12A5-538B-6A1A-B04C21DA1584}"/>
              </a:ext>
            </a:extLst>
          </p:cNvPr>
          <p:cNvSpPr>
            <a:spLocks noGrp="1" noRot="1" noMove="1" noResize="1" noEditPoints="1" noAdjustHandles="1" noChangeArrowheads="1" noChangeShapeType="1"/>
          </p:cNvSpPr>
          <p:nvPr/>
        </p:nvSpPr>
        <p:spPr>
          <a:xfrm>
            <a:off x="9606053" y="3857892"/>
            <a:ext cx="176922" cy="316335"/>
          </a:xfrm>
          <a:prstGeom prst="ellipse">
            <a:avLst/>
          </a:prstGeom>
          <a:noFill/>
          <a:ln>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58AF7E04-2B1A-5545-C365-3F7F99AC06E4}"/>
              </a:ext>
            </a:extLst>
          </p:cNvPr>
          <p:cNvCxnSpPr>
            <a:cxnSpLocks noGrp="1" noRot="1" noMove="1" noResize="1" noEditPoints="1" noAdjustHandles="1" noChangeArrowheads="1" noChangeShapeType="1"/>
            <a:stCxn id="85" idx="1"/>
          </p:cNvCxnSpPr>
          <p:nvPr/>
        </p:nvCxnSpPr>
        <p:spPr>
          <a:xfrm flipH="1">
            <a:off x="9406799" y="4629565"/>
            <a:ext cx="1464336" cy="712087"/>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68" name="TextBox 67">
            <a:extLst>
              <a:ext uri="{FF2B5EF4-FFF2-40B4-BE49-F238E27FC236}">
                <a16:creationId xmlns:a16="http://schemas.microsoft.com/office/drawing/2014/main" id="{28F3F42C-68C3-8234-2179-BD085B98D785}"/>
              </a:ext>
            </a:extLst>
          </p:cNvPr>
          <p:cNvSpPr txBox="1">
            <a:spLocks noGrp="1" noRot="1" noMove="1" noResize="1" noEditPoints="1" noAdjustHandles="1" noChangeArrowheads="1" noChangeShapeType="1"/>
          </p:cNvSpPr>
          <p:nvPr/>
        </p:nvSpPr>
        <p:spPr>
          <a:xfrm>
            <a:off x="5238386" y="2611390"/>
            <a:ext cx="1327453" cy="369332"/>
          </a:xfrm>
          <a:prstGeom prst="rect">
            <a:avLst/>
          </a:prstGeom>
          <a:noFill/>
        </p:spPr>
        <p:txBody>
          <a:bodyPr wrap="square" rtlCol="0">
            <a:spAutoFit/>
          </a:bodyPr>
          <a:lstStyle/>
          <a:p>
            <a:r>
              <a:rPr lang="en-US" dirty="0">
                <a:solidFill>
                  <a:schemeClr val="tx2">
                    <a:lumMod val="75000"/>
                    <a:lumOff val="25000"/>
                  </a:schemeClr>
                </a:solidFill>
              </a:rPr>
              <a:t>~ 19.36 °C </a:t>
            </a:r>
          </a:p>
        </p:txBody>
      </p:sp>
      <p:sp>
        <p:nvSpPr>
          <p:cNvPr id="73" name="TextBox 72">
            <a:extLst>
              <a:ext uri="{FF2B5EF4-FFF2-40B4-BE49-F238E27FC236}">
                <a16:creationId xmlns:a16="http://schemas.microsoft.com/office/drawing/2014/main" id="{B1D94B48-7C81-A03F-9435-2CF89E39AA0B}"/>
              </a:ext>
            </a:extLst>
          </p:cNvPr>
          <p:cNvSpPr txBox="1">
            <a:spLocks noGrp="1" noRot="1" noMove="1" noResize="1" noEditPoints="1" noAdjustHandles="1" noChangeArrowheads="1" noChangeShapeType="1"/>
          </p:cNvSpPr>
          <p:nvPr/>
        </p:nvSpPr>
        <p:spPr>
          <a:xfrm>
            <a:off x="5238385" y="3520085"/>
            <a:ext cx="1327453" cy="369332"/>
          </a:xfrm>
          <a:prstGeom prst="rect">
            <a:avLst/>
          </a:prstGeom>
          <a:noFill/>
        </p:spPr>
        <p:txBody>
          <a:bodyPr wrap="square" rtlCol="0">
            <a:spAutoFit/>
          </a:bodyPr>
          <a:lstStyle/>
          <a:p>
            <a:r>
              <a:rPr lang="en-US" dirty="0">
                <a:solidFill>
                  <a:schemeClr val="accent2"/>
                </a:solidFill>
              </a:rPr>
              <a:t>~ 19.07 °C </a:t>
            </a:r>
          </a:p>
        </p:txBody>
      </p:sp>
      <p:sp>
        <p:nvSpPr>
          <p:cNvPr id="74" name="TextBox 73">
            <a:extLst>
              <a:ext uri="{FF2B5EF4-FFF2-40B4-BE49-F238E27FC236}">
                <a16:creationId xmlns:a16="http://schemas.microsoft.com/office/drawing/2014/main" id="{3777DC1D-9D19-48C1-66A8-1371BC43248D}"/>
              </a:ext>
            </a:extLst>
          </p:cNvPr>
          <p:cNvSpPr txBox="1">
            <a:spLocks noGrp="1" noRot="1" noMove="1" noResize="1" noEditPoints="1" noAdjustHandles="1" noChangeArrowheads="1" noChangeShapeType="1"/>
          </p:cNvSpPr>
          <p:nvPr/>
        </p:nvSpPr>
        <p:spPr>
          <a:xfrm>
            <a:off x="5263022" y="5332765"/>
            <a:ext cx="1327453" cy="369332"/>
          </a:xfrm>
          <a:prstGeom prst="rect">
            <a:avLst/>
          </a:prstGeom>
          <a:noFill/>
        </p:spPr>
        <p:txBody>
          <a:bodyPr wrap="square" rtlCol="0">
            <a:spAutoFit/>
          </a:bodyPr>
          <a:lstStyle/>
          <a:p>
            <a:r>
              <a:rPr lang="en-US" dirty="0">
                <a:solidFill>
                  <a:schemeClr val="accent2"/>
                </a:solidFill>
              </a:rPr>
              <a:t>~ 18.76 °C </a:t>
            </a:r>
          </a:p>
        </p:txBody>
      </p:sp>
      <p:sp>
        <p:nvSpPr>
          <p:cNvPr id="75" name="TextBox 74">
            <a:extLst>
              <a:ext uri="{FF2B5EF4-FFF2-40B4-BE49-F238E27FC236}">
                <a16:creationId xmlns:a16="http://schemas.microsoft.com/office/drawing/2014/main" id="{C026BBC6-A195-6548-77CC-12C9F0ED1B7F}"/>
              </a:ext>
            </a:extLst>
          </p:cNvPr>
          <p:cNvSpPr txBox="1">
            <a:spLocks noGrp="1" noRot="1" noMove="1" noResize="1" noEditPoints="1" noAdjustHandles="1" noChangeArrowheads="1" noChangeShapeType="1"/>
          </p:cNvSpPr>
          <p:nvPr/>
        </p:nvSpPr>
        <p:spPr>
          <a:xfrm>
            <a:off x="5238387" y="798710"/>
            <a:ext cx="1327453" cy="369332"/>
          </a:xfrm>
          <a:prstGeom prst="rect">
            <a:avLst/>
          </a:prstGeom>
          <a:noFill/>
        </p:spPr>
        <p:txBody>
          <a:bodyPr wrap="square" rtlCol="0">
            <a:spAutoFit/>
          </a:bodyPr>
          <a:lstStyle/>
          <a:p>
            <a:r>
              <a:rPr lang="en-US" dirty="0">
                <a:solidFill>
                  <a:srgbClr val="C00000"/>
                </a:solidFill>
              </a:rPr>
              <a:t>~ 19.95 °C </a:t>
            </a:r>
          </a:p>
        </p:txBody>
      </p:sp>
      <p:sp>
        <p:nvSpPr>
          <p:cNvPr id="76" name="TextBox 75">
            <a:extLst>
              <a:ext uri="{FF2B5EF4-FFF2-40B4-BE49-F238E27FC236}">
                <a16:creationId xmlns:a16="http://schemas.microsoft.com/office/drawing/2014/main" id="{9DBA69E3-18FF-494C-84DC-32D545CB4E93}"/>
              </a:ext>
            </a:extLst>
          </p:cNvPr>
          <p:cNvSpPr txBox="1">
            <a:spLocks noGrp="1" noRot="1" noMove="1" noResize="1" noEditPoints="1" noAdjustHandles="1" noChangeArrowheads="1" noChangeShapeType="1"/>
          </p:cNvSpPr>
          <p:nvPr/>
        </p:nvSpPr>
        <p:spPr>
          <a:xfrm>
            <a:off x="5263022" y="4138146"/>
            <a:ext cx="1327453" cy="369332"/>
          </a:xfrm>
          <a:prstGeom prst="rect">
            <a:avLst/>
          </a:prstGeom>
          <a:noFill/>
        </p:spPr>
        <p:txBody>
          <a:bodyPr wrap="square" rtlCol="0">
            <a:spAutoFit/>
          </a:bodyPr>
          <a:lstStyle/>
          <a:p>
            <a:r>
              <a:rPr lang="en-US" dirty="0">
                <a:solidFill>
                  <a:schemeClr val="tx2">
                    <a:lumMod val="75000"/>
                    <a:lumOff val="25000"/>
                  </a:schemeClr>
                </a:solidFill>
              </a:rPr>
              <a:t>~ 19.11 °C </a:t>
            </a:r>
          </a:p>
        </p:txBody>
      </p:sp>
      <p:sp>
        <p:nvSpPr>
          <p:cNvPr id="79" name="TextBox 78">
            <a:extLst>
              <a:ext uri="{FF2B5EF4-FFF2-40B4-BE49-F238E27FC236}">
                <a16:creationId xmlns:a16="http://schemas.microsoft.com/office/drawing/2014/main" id="{98DF12F3-4008-E04A-3729-290587C7FFFF}"/>
              </a:ext>
            </a:extLst>
          </p:cNvPr>
          <p:cNvSpPr txBox="1">
            <a:spLocks noGrp="1" noRot="1" noMove="1" noResize="1" noEditPoints="1" noAdjustHandles="1" noChangeArrowheads="1" noChangeShapeType="1"/>
          </p:cNvSpPr>
          <p:nvPr/>
        </p:nvSpPr>
        <p:spPr>
          <a:xfrm>
            <a:off x="10864547" y="2706465"/>
            <a:ext cx="1327453" cy="523220"/>
          </a:xfrm>
          <a:prstGeom prst="rect">
            <a:avLst/>
          </a:prstGeom>
          <a:noFill/>
        </p:spPr>
        <p:txBody>
          <a:bodyPr wrap="square" rtlCol="0">
            <a:spAutoFit/>
          </a:bodyPr>
          <a:lstStyle/>
          <a:p>
            <a:r>
              <a:rPr lang="en-US" dirty="0">
                <a:solidFill>
                  <a:schemeClr val="tx2">
                    <a:lumMod val="75000"/>
                    <a:lumOff val="25000"/>
                  </a:schemeClr>
                </a:solidFill>
              </a:rPr>
              <a:t>Bundle 2</a:t>
            </a:r>
          </a:p>
          <a:p>
            <a:r>
              <a:rPr lang="el-GR" sz="1000" b="0" i="0" dirty="0">
                <a:solidFill>
                  <a:schemeClr val="tx2">
                    <a:lumMod val="75000"/>
                    <a:lumOff val="25000"/>
                  </a:schemeClr>
                </a:solidFill>
                <a:effectLst/>
                <a:latin typeface="Google Sans"/>
              </a:rPr>
              <a:t>Δ</a:t>
            </a:r>
            <a:r>
              <a:rPr lang="en-US" sz="1000" b="0" i="0" dirty="0" err="1">
                <a:solidFill>
                  <a:schemeClr val="tx2">
                    <a:lumMod val="75000"/>
                    <a:lumOff val="25000"/>
                  </a:schemeClr>
                </a:solidFill>
                <a:effectLst/>
                <a:latin typeface="Google Sans"/>
              </a:rPr>
              <a:t>T</a:t>
            </a:r>
            <a:r>
              <a:rPr lang="en-US" sz="1000" b="0" i="0" baseline="-25000" dirty="0" err="1">
                <a:solidFill>
                  <a:schemeClr val="tx2">
                    <a:lumMod val="75000"/>
                    <a:lumOff val="25000"/>
                  </a:schemeClr>
                </a:solidFill>
                <a:effectLst/>
                <a:latin typeface="Google Sans"/>
              </a:rPr>
              <a:t>New</a:t>
            </a:r>
            <a:r>
              <a:rPr lang="en-US" sz="1000" b="0" i="0" baseline="-25000" dirty="0">
                <a:solidFill>
                  <a:schemeClr val="tx2">
                    <a:lumMod val="75000"/>
                    <a:lumOff val="25000"/>
                  </a:schemeClr>
                </a:solidFill>
                <a:effectLst/>
                <a:latin typeface="Google Sans"/>
              </a:rPr>
              <a:t> – Legacy</a:t>
            </a:r>
            <a:r>
              <a:rPr lang="en-US" sz="1000" b="0" i="0" dirty="0">
                <a:solidFill>
                  <a:schemeClr val="tx2">
                    <a:lumMod val="75000"/>
                    <a:lumOff val="25000"/>
                  </a:schemeClr>
                </a:solidFill>
                <a:effectLst/>
                <a:latin typeface="Google Sans"/>
              </a:rPr>
              <a:t> ~ 0.25 </a:t>
            </a:r>
            <a:r>
              <a:rPr lang="en-US" sz="1000" dirty="0">
                <a:solidFill>
                  <a:schemeClr val="tx2">
                    <a:lumMod val="75000"/>
                    <a:lumOff val="25000"/>
                  </a:schemeClr>
                </a:solidFill>
              </a:rPr>
              <a:t>°C </a:t>
            </a:r>
          </a:p>
        </p:txBody>
      </p:sp>
      <p:sp>
        <p:nvSpPr>
          <p:cNvPr id="85" name="TextBox 84">
            <a:extLst>
              <a:ext uri="{FF2B5EF4-FFF2-40B4-BE49-F238E27FC236}">
                <a16:creationId xmlns:a16="http://schemas.microsoft.com/office/drawing/2014/main" id="{9A942D9A-EDDE-5795-9F95-99B644FF9B36}"/>
              </a:ext>
            </a:extLst>
          </p:cNvPr>
          <p:cNvSpPr txBox="1">
            <a:spLocks noGrp="1" noRot="1" noMove="1" noResize="1" noEditPoints="1" noAdjustHandles="1" noChangeArrowheads="1" noChangeShapeType="1"/>
          </p:cNvSpPr>
          <p:nvPr/>
        </p:nvSpPr>
        <p:spPr>
          <a:xfrm>
            <a:off x="10871135" y="4367955"/>
            <a:ext cx="1327453" cy="523220"/>
          </a:xfrm>
          <a:prstGeom prst="rect">
            <a:avLst/>
          </a:prstGeom>
          <a:noFill/>
        </p:spPr>
        <p:txBody>
          <a:bodyPr wrap="square" rtlCol="0">
            <a:spAutoFit/>
          </a:bodyPr>
          <a:lstStyle/>
          <a:p>
            <a:r>
              <a:rPr lang="en-US" dirty="0">
                <a:solidFill>
                  <a:schemeClr val="accent2"/>
                </a:solidFill>
              </a:rPr>
              <a:t>Bundle 3</a:t>
            </a:r>
          </a:p>
          <a:p>
            <a:r>
              <a:rPr lang="el-GR" sz="1000" b="0" i="0" dirty="0">
                <a:solidFill>
                  <a:schemeClr val="accent2"/>
                </a:solidFill>
                <a:effectLst/>
                <a:latin typeface="Google Sans"/>
              </a:rPr>
              <a:t>Δ</a:t>
            </a:r>
            <a:r>
              <a:rPr lang="en-US" sz="1000" b="0" i="0" dirty="0" err="1">
                <a:solidFill>
                  <a:schemeClr val="accent2"/>
                </a:solidFill>
                <a:effectLst/>
                <a:latin typeface="Google Sans"/>
              </a:rPr>
              <a:t>T</a:t>
            </a:r>
            <a:r>
              <a:rPr lang="en-US" sz="1000" b="0" i="0" baseline="-25000" dirty="0" err="1">
                <a:solidFill>
                  <a:schemeClr val="accent2"/>
                </a:solidFill>
                <a:effectLst/>
                <a:latin typeface="Google Sans"/>
              </a:rPr>
              <a:t>New</a:t>
            </a:r>
            <a:r>
              <a:rPr lang="en-US" sz="1000" b="0" i="0" baseline="-25000" dirty="0">
                <a:solidFill>
                  <a:schemeClr val="accent2"/>
                </a:solidFill>
                <a:effectLst/>
                <a:latin typeface="Google Sans"/>
              </a:rPr>
              <a:t> – Legacy</a:t>
            </a:r>
            <a:r>
              <a:rPr lang="en-US" sz="1000" b="0" i="0" dirty="0">
                <a:solidFill>
                  <a:schemeClr val="accent2"/>
                </a:solidFill>
                <a:effectLst/>
                <a:latin typeface="Google Sans"/>
              </a:rPr>
              <a:t> ~ 0.31 </a:t>
            </a:r>
            <a:r>
              <a:rPr lang="en-US" sz="1000" dirty="0">
                <a:solidFill>
                  <a:schemeClr val="accent2"/>
                </a:solidFill>
              </a:rPr>
              <a:t>°C </a:t>
            </a:r>
          </a:p>
        </p:txBody>
      </p:sp>
      <p:sp>
        <p:nvSpPr>
          <p:cNvPr id="88" name="TextBox 87">
            <a:extLst>
              <a:ext uri="{FF2B5EF4-FFF2-40B4-BE49-F238E27FC236}">
                <a16:creationId xmlns:a16="http://schemas.microsoft.com/office/drawing/2014/main" id="{A074E93F-45F2-197E-5155-96C956956E4A}"/>
              </a:ext>
            </a:extLst>
          </p:cNvPr>
          <p:cNvSpPr txBox="1">
            <a:spLocks noGrp="1" noRot="1" noMove="1" noResize="1" noEditPoints="1" noAdjustHandles="1" noChangeArrowheads="1" noChangeShapeType="1"/>
          </p:cNvSpPr>
          <p:nvPr/>
        </p:nvSpPr>
        <p:spPr>
          <a:xfrm>
            <a:off x="7223709" y="6257451"/>
            <a:ext cx="1505607" cy="369332"/>
          </a:xfrm>
          <a:prstGeom prst="rect">
            <a:avLst/>
          </a:prstGeom>
          <a:noFill/>
        </p:spPr>
        <p:txBody>
          <a:bodyPr wrap="square" rtlCol="0">
            <a:spAutoFit/>
          </a:bodyPr>
          <a:lstStyle/>
          <a:p>
            <a:pPr algn="ctr"/>
            <a:r>
              <a:rPr lang="en-US" b="1" dirty="0"/>
              <a:t>Part 2</a:t>
            </a:r>
          </a:p>
        </p:txBody>
      </p:sp>
      <p:sp>
        <p:nvSpPr>
          <p:cNvPr id="90" name="TextBox 89">
            <a:extLst>
              <a:ext uri="{FF2B5EF4-FFF2-40B4-BE49-F238E27FC236}">
                <a16:creationId xmlns:a16="http://schemas.microsoft.com/office/drawing/2014/main" id="{93EC15DA-920B-C22F-BCC0-A89A817D32DA}"/>
              </a:ext>
            </a:extLst>
          </p:cNvPr>
          <p:cNvSpPr txBox="1">
            <a:spLocks noGrp="1" noRot="1" noMove="1" noResize="1" noEditPoints="1" noAdjustHandles="1" noChangeArrowheads="1" noChangeShapeType="1"/>
          </p:cNvSpPr>
          <p:nvPr/>
        </p:nvSpPr>
        <p:spPr>
          <a:xfrm>
            <a:off x="2520731" y="6257451"/>
            <a:ext cx="1505607" cy="369332"/>
          </a:xfrm>
          <a:prstGeom prst="rect">
            <a:avLst/>
          </a:prstGeom>
          <a:noFill/>
        </p:spPr>
        <p:txBody>
          <a:bodyPr wrap="square" rtlCol="0">
            <a:spAutoFit/>
          </a:bodyPr>
          <a:lstStyle/>
          <a:p>
            <a:pPr algn="ctr"/>
            <a:r>
              <a:rPr lang="en-US" b="1" dirty="0"/>
              <a:t>Part 1</a:t>
            </a:r>
          </a:p>
        </p:txBody>
      </p:sp>
      <p:sp>
        <p:nvSpPr>
          <p:cNvPr id="92" name="TextBox 91">
            <a:extLst>
              <a:ext uri="{FF2B5EF4-FFF2-40B4-BE49-F238E27FC236}">
                <a16:creationId xmlns:a16="http://schemas.microsoft.com/office/drawing/2014/main" id="{26BF1F46-CEA7-AAE7-3AA5-7041AC1BC949}"/>
              </a:ext>
            </a:extLst>
          </p:cNvPr>
          <p:cNvSpPr txBox="1">
            <a:spLocks noGrp="1" noRot="1" noMove="1" noResize="1" noEditPoints="1" noAdjustHandles="1" noChangeArrowheads="1" noChangeShapeType="1"/>
          </p:cNvSpPr>
          <p:nvPr/>
        </p:nvSpPr>
        <p:spPr>
          <a:xfrm>
            <a:off x="5554361" y="2186211"/>
            <a:ext cx="1011476" cy="307777"/>
          </a:xfrm>
          <a:prstGeom prst="rect">
            <a:avLst/>
          </a:prstGeom>
          <a:noFill/>
        </p:spPr>
        <p:txBody>
          <a:bodyPr wrap="square" rtlCol="0">
            <a:spAutoFit/>
          </a:bodyPr>
          <a:lstStyle/>
          <a:p>
            <a:r>
              <a:rPr lang="en-US" sz="1400" dirty="0">
                <a:solidFill>
                  <a:schemeClr val="accent1">
                    <a:lumMod val="40000"/>
                    <a:lumOff val="60000"/>
                  </a:schemeClr>
                </a:solidFill>
              </a:rPr>
              <a:t>20.9841°C </a:t>
            </a:r>
          </a:p>
        </p:txBody>
      </p:sp>
      <p:sp>
        <p:nvSpPr>
          <p:cNvPr id="93" name="TextBox 92">
            <a:extLst>
              <a:ext uri="{FF2B5EF4-FFF2-40B4-BE49-F238E27FC236}">
                <a16:creationId xmlns:a16="http://schemas.microsoft.com/office/drawing/2014/main" id="{567F2397-19F3-D664-4CD9-196670A52C6A}"/>
              </a:ext>
            </a:extLst>
          </p:cNvPr>
          <p:cNvSpPr txBox="1">
            <a:spLocks noGrp="1" noRot="1" noMove="1" noResize="1" noEditPoints="1" noAdjustHandles="1" noChangeArrowheads="1" noChangeShapeType="1"/>
          </p:cNvSpPr>
          <p:nvPr/>
        </p:nvSpPr>
        <p:spPr>
          <a:xfrm>
            <a:off x="5146950" y="4737286"/>
            <a:ext cx="1010778" cy="307777"/>
          </a:xfrm>
          <a:prstGeom prst="rect">
            <a:avLst/>
          </a:prstGeom>
          <a:noFill/>
        </p:spPr>
        <p:txBody>
          <a:bodyPr wrap="square" rtlCol="0">
            <a:spAutoFit/>
          </a:bodyPr>
          <a:lstStyle/>
          <a:p>
            <a:r>
              <a:rPr lang="en-US" sz="1400" dirty="0">
                <a:solidFill>
                  <a:schemeClr val="accent1">
                    <a:lumMod val="40000"/>
                    <a:lumOff val="60000"/>
                  </a:schemeClr>
                </a:solidFill>
              </a:rPr>
              <a:t>20.9671°C </a:t>
            </a:r>
          </a:p>
        </p:txBody>
      </p:sp>
      <p:pic>
        <p:nvPicPr>
          <p:cNvPr id="14" name="Picture 13" descr="A close-up of a number&#10;&#10;Description automatically generated">
            <a:extLst>
              <a:ext uri="{FF2B5EF4-FFF2-40B4-BE49-F238E27FC236}">
                <a16:creationId xmlns:a16="http://schemas.microsoft.com/office/drawing/2014/main" id="{B595A05F-9027-A279-9D4D-350F30BDE85E}"/>
              </a:ext>
            </a:extLst>
          </p:cNvPr>
          <p:cNvPicPr>
            <a:picLocks noGrp="1" noRot="1" noChangeAspect="1" noMove="1" noResize="1" noEditPoints="1" noAdjustHandles="1" noChangeArrowheads="1" noChangeShapeType="1" noCrop="1"/>
          </p:cNvPicPr>
          <p:nvPr/>
        </p:nvPicPr>
        <p:blipFill>
          <a:blip r:embed="rId3"/>
          <a:stretch>
            <a:fillRect/>
          </a:stretch>
        </p:blipFill>
        <p:spPr>
          <a:xfrm>
            <a:off x="2768214" y="4231845"/>
            <a:ext cx="914400" cy="1626433"/>
          </a:xfrm>
          <a:prstGeom prst="rect">
            <a:avLst/>
          </a:prstGeom>
          <a:ln w="3175">
            <a:solidFill>
              <a:schemeClr val="tx1"/>
            </a:solidFill>
          </a:ln>
        </p:spPr>
      </p:pic>
      <p:pic>
        <p:nvPicPr>
          <p:cNvPr id="16" name="Picture 15" descr="A close-up of a number&#10;&#10;Description automatically generated">
            <a:extLst>
              <a:ext uri="{FF2B5EF4-FFF2-40B4-BE49-F238E27FC236}">
                <a16:creationId xmlns:a16="http://schemas.microsoft.com/office/drawing/2014/main" id="{DAD16874-993F-87F4-44DD-BB1C2709D468}"/>
              </a:ext>
            </a:extLst>
          </p:cNvPr>
          <p:cNvPicPr>
            <a:picLocks noGrp="1" noRot="1" noChangeAspect="1" noMove="1" noResize="1" noEditPoints="1" noAdjustHandles="1" noChangeArrowheads="1" noChangeShapeType="1" noCrop="1"/>
          </p:cNvPicPr>
          <p:nvPr/>
        </p:nvPicPr>
        <p:blipFill>
          <a:blip r:embed="rId4"/>
          <a:stretch>
            <a:fillRect/>
          </a:stretch>
        </p:blipFill>
        <p:spPr>
          <a:xfrm>
            <a:off x="8236036" y="4281803"/>
            <a:ext cx="914400" cy="1526519"/>
          </a:xfrm>
          <a:prstGeom prst="rect">
            <a:avLst/>
          </a:prstGeom>
          <a:ln w="3175">
            <a:solidFill>
              <a:schemeClr val="tx1"/>
            </a:solidFill>
          </a:ln>
        </p:spPr>
      </p:pic>
    </p:spTree>
    <p:extLst>
      <p:ext uri="{BB962C8B-B14F-4D97-AF65-F5344CB8AC3E}">
        <p14:creationId xmlns:p14="http://schemas.microsoft.com/office/powerpoint/2010/main" val="4286332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AC07D-A75D-00AE-2EB0-20B179ED7002}"/>
              </a:ext>
            </a:extLst>
          </p:cNvPr>
          <p:cNvSpPr>
            <a:spLocks noGrp="1"/>
          </p:cNvSpPr>
          <p:nvPr>
            <p:ph type="title"/>
          </p:nvPr>
        </p:nvSpPr>
        <p:spPr>
          <a:xfrm>
            <a:off x="838196" y="14235"/>
            <a:ext cx="10515600" cy="1325563"/>
          </a:xfrm>
        </p:spPr>
        <p:txBody>
          <a:bodyPr/>
          <a:lstStyle/>
          <a:p>
            <a:pPr algn="ctr"/>
            <a:r>
              <a:rPr lang="en-US" dirty="0"/>
              <a:t>Table 1: Room Temperature Test 1 Results</a:t>
            </a:r>
          </a:p>
        </p:txBody>
      </p:sp>
      <p:graphicFrame>
        <p:nvGraphicFramePr>
          <p:cNvPr id="4" name="Content Placeholder 3">
            <a:extLst>
              <a:ext uri="{FF2B5EF4-FFF2-40B4-BE49-F238E27FC236}">
                <a16:creationId xmlns:a16="http://schemas.microsoft.com/office/drawing/2014/main" id="{13CB79BE-3F77-B0FA-EA01-3244DAEFA0EF}"/>
              </a:ext>
            </a:extLst>
          </p:cNvPr>
          <p:cNvGraphicFramePr>
            <a:graphicFrameLocks noGrp="1"/>
          </p:cNvGraphicFramePr>
          <p:nvPr>
            <p:ph idx="1"/>
            <p:extLst>
              <p:ext uri="{D42A27DB-BD31-4B8C-83A1-F6EECF244321}">
                <p14:modId xmlns:p14="http://schemas.microsoft.com/office/powerpoint/2010/main" val="1036942057"/>
              </p:ext>
            </p:extLst>
          </p:nvPr>
        </p:nvGraphicFramePr>
        <p:xfrm>
          <a:off x="838196" y="1356677"/>
          <a:ext cx="10515599" cy="4144645"/>
        </p:xfrm>
        <a:graphic>
          <a:graphicData uri="http://schemas.openxmlformats.org/drawingml/2006/table">
            <a:tbl>
              <a:tblPr firstRow="1" bandRow="1">
                <a:tableStyleId>{5C22544A-7EE6-4342-B048-85BDC9FD1C3A}</a:tableStyleId>
              </a:tblPr>
              <a:tblGrid>
                <a:gridCol w="541564">
                  <a:extLst>
                    <a:ext uri="{9D8B030D-6E8A-4147-A177-3AD203B41FA5}">
                      <a16:colId xmlns:a16="http://schemas.microsoft.com/office/drawing/2014/main" val="2932479768"/>
                    </a:ext>
                  </a:extLst>
                </a:gridCol>
                <a:gridCol w="1257300">
                  <a:extLst>
                    <a:ext uri="{9D8B030D-6E8A-4147-A177-3AD203B41FA5}">
                      <a16:colId xmlns:a16="http://schemas.microsoft.com/office/drawing/2014/main" val="1137581038"/>
                    </a:ext>
                  </a:extLst>
                </a:gridCol>
                <a:gridCol w="1126672">
                  <a:extLst>
                    <a:ext uri="{9D8B030D-6E8A-4147-A177-3AD203B41FA5}">
                      <a16:colId xmlns:a16="http://schemas.microsoft.com/office/drawing/2014/main" val="3818947068"/>
                    </a:ext>
                  </a:extLst>
                </a:gridCol>
                <a:gridCol w="1510393">
                  <a:extLst>
                    <a:ext uri="{9D8B030D-6E8A-4147-A177-3AD203B41FA5}">
                      <a16:colId xmlns:a16="http://schemas.microsoft.com/office/drawing/2014/main" val="873923221"/>
                    </a:ext>
                  </a:extLst>
                </a:gridCol>
                <a:gridCol w="1053192">
                  <a:extLst>
                    <a:ext uri="{9D8B030D-6E8A-4147-A177-3AD203B41FA5}">
                      <a16:colId xmlns:a16="http://schemas.microsoft.com/office/drawing/2014/main" val="2973435756"/>
                    </a:ext>
                  </a:extLst>
                </a:gridCol>
                <a:gridCol w="1468727">
                  <a:extLst>
                    <a:ext uri="{9D8B030D-6E8A-4147-A177-3AD203B41FA5}">
                      <a16:colId xmlns:a16="http://schemas.microsoft.com/office/drawing/2014/main" val="3517002371"/>
                    </a:ext>
                  </a:extLst>
                </a:gridCol>
                <a:gridCol w="3557751">
                  <a:extLst>
                    <a:ext uri="{9D8B030D-6E8A-4147-A177-3AD203B41FA5}">
                      <a16:colId xmlns:a16="http://schemas.microsoft.com/office/drawing/2014/main" val="2705001639"/>
                    </a:ext>
                  </a:extLst>
                </a:gridCol>
              </a:tblGrid>
              <a:tr h="370840">
                <a:tc>
                  <a:txBody>
                    <a:bodyPr/>
                    <a:lstStyle/>
                    <a:p>
                      <a:pPr algn="ctr" fontAlgn="ctr"/>
                      <a:r>
                        <a:rPr lang="en-US" sz="1400" b="1" i="0" u="none" strike="noStrike" dirty="0">
                          <a:solidFill>
                            <a:schemeClr val="bg1"/>
                          </a:solidFill>
                          <a:effectLst/>
                          <a:latin typeface="+mj-lt"/>
                        </a:rPr>
                        <a:t>IJB TC</a:t>
                      </a:r>
                    </a:p>
                  </a:txBody>
                  <a:tcPr marL="9525" marR="9525" marT="9525" marB="0" anchor="ctr"/>
                </a:tc>
                <a:tc>
                  <a:txBody>
                    <a:bodyPr/>
                    <a:lstStyle/>
                    <a:p>
                      <a:pPr algn="ctr" fontAlgn="ctr"/>
                      <a:r>
                        <a:rPr lang="en-US" sz="1400" b="1" i="0" u="none" strike="noStrike" dirty="0">
                          <a:solidFill>
                            <a:schemeClr val="bg1"/>
                          </a:solidFill>
                          <a:effectLst/>
                          <a:latin typeface="+mj-lt"/>
                        </a:rPr>
                        <a:t>TIC TC Channel (Part 1)</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1,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Corresponding TIC TC Channel (Part 2)</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Temperature Delta (Part 2 – Part 1,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Notes</a:t>
                      </a:r>
                    </a:p>
                  </a:txBody>
                  <a:tcPr marL="9525" marR="9525" marT="9525" marB="0" anchor="ctr"/>
                </a:tc>
                <a:extLst>
                  <a:ext uri="{0D108BD9-81ED-4DB2-BD59-A6C34878D82A}">
                    <a16:rowId xmlns:a16="http://schemas.microsoft.com/office/drawing/2014/main" val="3104794286"/>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19.358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19.383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0.025</a:t>
                      </a:r>
                    </a:p>
                  </a:txBody>
                  <a:tcPr marL="9525" marR="9525" marT="9525" marB="0" anchor="ctr"/>
                </a:tc>
                <a:tc>
                  <a:txBody>
                    <a:bodyPr/>
                    <a:lstStyle/>
                    <a:p>
                      <a:pPr lvl="0" algn="ctr" fontAlgn="ctr"/>
                      <a:r>
                        <a:rPr lang="en-US" sz="1600" b="0" i="0" u="none" strike="noStrike">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129115819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19.092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19.119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4081047939"/>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19.935</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19.96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0.025</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3824230301"/>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19.129</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19.133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0.004</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1363448347"/>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19.346</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19.364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0.018</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55718667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B0</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20.984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20.967</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-0.017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Spare – Recording ambient temperature. </a:t>
                      </a:r>
                    </a:p>
                  </a:txBody>
                  <a:tcPr marL="9525" marR="9525" marT="9525" marB="0" anchor="ctr"/>
                </a:tc>
                <a:extLst>
                  <a:ext uri="{0D108BD9-81ED-4DB2-BD59-A6C34878D82A}">
                    <a16:rowId xmlns:a16="http://schemas.microsoft.com/office/drawing/2014/main" val="3288867205"/>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19.382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19.353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-0.029</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67498730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19.11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19.073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384799196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19.962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19.95</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-0.012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555110630"/>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19.959</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19.926</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-0.033</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143311268"/>
                  </a:ext>
                </a:extLst>
              </a:tr>
            </a:tbl>
          </a:graphicData>
        </a:graphic>
      </p:graphicFrame>
      <p:sp>
        <p:nvSpPr>
          <p:cNvPr id="5" name="TextBox 4">
            <a:extLst>
              <a:ext uri="{FF2B5EF4-FFF2-40B4-BE49-F238E27FC236}">
                <a16:creationId xmlns:a16="http://schemas.microsoft.com/office/drawing/2014/main" id="{90CA6003-DF27-7886-1904-EBB8F6874818}"/>
              </a:ext>
            </a:extLst>
          </p:cNvPr>
          <p:cNvSpPr txBox="1"/>
          <p:nvPr/>
        </p:nvSpPr>
        <p:spPr>
          <a:xfrm>
            <a:off x="650324" y="6186223"/>
            <a:ext cx="10891345" cy="369332"/>
          </a:xfrm>
          <a:prstGeom prst="rect">
            <a:avLst/>
          </a:prstGeom>
          <a:noFill/>
          <a:ln w="38100">
            <a:solidFill>
              <a:schemeClr val="accent1">
                <a:lumMod val="60000"/>
                <a:lumOff val="40000"/>
              </a:schemeClr>
            </a:solidFill>
          </a:ln>
        </p:spPr>
        <p:txBody>
          <a:bodyPr wrap="square" rtlCol="0">
            <a:spAutoFit/>
          </a:bodyPr>
          <a:lstStyle/>
          <a:p>
            <a:r>
              <a:rPr lang="en-US" dirty="0"/>
              <a:t>Deltas range from </a:t>
            </a:r>
            <a:r>
              <a:rPr lang="en-US" b="1" dirty="0"/>
              <a:t>-0.037°C to +0.027°C</a:t>
            </a:r>
            <a:r>
              <a:rPr lang="en-US" dirty="0"/>
              <a:t>, revealing consistent performance across TICs at room temperature.</a:t>
            </a:r>
          </a:p>
        </p:txBody>
      </p:sp>
    </p:spTree>
    <p:extLst>
      <p:ext uri="{BB962C8B-B14F-4D97-AF65-F5344CB8AC3E}">
        <p14:creationId xmlns:p14="http://schemas.microsoft.com/office/powerpoint/2010/main" val="3531645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62BBA-05EE-41C3-C532-FFD178936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7710F-8924-034B-4218-538C6FF9A891}"/>
              </a:ext>
            </a:extLst>
          </p:cNvPr>
          <p:cNvSpPr>
            <a:spLocks noGrp="1"/>
          </p:cNvSpPr>
          <p:nvPr>
            <p:ph type="title"/>
          </p:nvPr>
        </p:nvSpPr>
        <p:spPr>
          <a:xfrm>
            <a:off x="838198" y="14235"/>
            <a:ext cx="10515600" cy="1325563"/>
          </a:xfrm>
        </p:spPr>
        <p:txBody>
          <a:bodyPr>
            <a:normAutofit/>
          </a:bodyPr>
          <a:lstStyle/>
          <a:p>
            <a:pPr algn="ctr"/>
            <a:r>
              <a:rPr lang="en-US" sz="4000" dirty="0"/>
              <a:t>Table 2: Room Temperature Test 1 Results (Swapped back)</a:t>
            </a:r>
          </a:p>
        </p:txBody>
      </p:sp>
      <p:graphicFrame>
        <p:nvGraphicFramePr>
          <p:cNvPr id="4" name="Content Placeholder 3">
            <a:extLst>
              <a:ext uri="{FF2B5EF4-FFF2-40B4-BE49-F238E27FC236}">
                <a16:creationId xmlns:a16="http://schemas.microsoft.com/office/drawing/2014/main" id="{751018BB-96B0-3A96-21C7-54046C782D73}"/>
              </a:ext>
            </a:extLst>
          </p:cNvPr>
          <p:cNvGraphicFramePr>
            <a:graphicFrameLocks noGrp="1"/>
          </p:cNvGraphicFramePr>
          <p:nvPr>
            <p:ph idx="1"/>
            <p:extLst>
              <p:ext uri="{D42A27DB-BD31-4B8C-83A1-F6EECF244321}">
                <p14:modId xmlns:p14="http://schemas.microsoft.com/office/powerpoint/2010/main" val="3550518773"/>
              </p:ext>
            </p:extLst>
          </p:nvPr>
        </p:nvGraphicFramePr>
        <p:xfrm>
          <a:off x="838199" y="1379486"/>
          <a:ext cx="10515599" cy="4144645"/>
        </p:xfrm>
        <a:graphic>
          <a:graphicData uri="http://schemas.openxmlformats.org/drawingml/2006/table">
            <a:tbl>
              <a:tblPr firstRow="1" bandRow="1">
                <a:tableStyleId>{5C22544A-7EE6-4342-B048-85BDC9FD1C3A}</a:tableStyleId>
              </a:tblPr>
              <a:tblGrid>
                <a:gridCol w="541564">
                  <a:extLst>
                    <a:ext uri="{9D8B030D-6E8A-4147-A177-3AD203B41FA5}">
                      <a16:colId xmlns:a16="http://schemas.microsoft.com/office/drawing/2014/main" val="2932479768"/>
                    </a:ext>
                  </a:extLst>
                </a:gridCol>
                <a:gridCol w="1257300">
                  <a:extLst>
                    <a:ext uri="{9D8B030D-6E8A-4147-A177-3AD203B41FA5}">
                      <a16:colId xmlns:a16="http://schemas.microsoft.com/office/drawing/2014/main" val="1137581038"/>
                    </a:ext>
                  </a:extLst>
                </a:gridCol>
                <a:gridCol w="1126672">
                  <a:extLst>
                    <a:ext uri="{9D8B030D-6E8A-4147-A177-3AD203B41FA5}">
                      <a16:colId xmlns:a16="http://schemas.microsoft.com/office/drawing/2014/main" val="3818947068"/>
                    </a:ext>
                  </a:extLst>
                </a:gridCol>
                <a:gridCol w="1510393">
                  <a:extLst>
                    <a:ext uri="{9D8B030D-6E8A-4147-A177-3AD203B41FA5}">
                      <a16:colId xmlns:a16="http://schemas.microsoft.com/office/drawing/2014/main" val="873923221"/>
                    </a:ext>
                  </a:extLst>
                </a:gridCol>
                <a:gridCol w="1053192">
                  <a:extLst>
                    <a:ext uri="{9D8B030D-6E8A-4147-A177-3AD203B41FA5}">
                      <a16:colId xmlns:a16="http://schemas.microsoft.com/office/drawing/2014/main" val="2973435756"/>
                    </a:ext>
                  </a:extLst>
                </a:gridCol>
                <a:gridCol w="1468727">
                  <a:extLst>
                    <a:ext uri="{9D8B030D-6E8A-4147-A177-3AD203B41FA5}">
                      <a16:colId xmlns:a16="http://schemas.microsoft.com/office/drawing/2014/main" val="3517002371"/>
                    </a:ext>
                  </a:extLst>
                </a:gridCol>
                <a:gridCol w="3557751">
                  <a:extLst>
                    <a:ext uri="{9D8B030D-6E8A-4147-A177-3AD203B41FA5}">
                      <a16:colId xmlns:a16="http://schemas.microsoft.com/office/drawing/2014/main" val="2705001639"/>
                    </a:ext>
                  </a:extLst>
                </a:gridCol>
              </a:tblGrid>
              <a:tr h="370840">
                <a:tc>
                  <a:txBody>
                    <a:bodyPr/>
                    <a:lstStyle/>
                    <a:p>
                      <a:pPr algn="ctr" fontAlgn="ctr"/>
                      <a:r>
                        <a:rPr lang="en-US" sz="1400" b="1" i="0" u="none" strike="noStrike" dirty="0">
                          <a:solidFill>
                            <a:schemeClr val="bg1"/>
                          </a:solidFill>
                          <a:effectLst/>
                          <a:latin typeface="+mj-lt"/>
                        </a:rPr>
                        <a:t>IJB TC</a:t>
                      </a:r>
                    </a:p>
                  </a:txBody>
                  <a:tcPr marL="9525" marR="9525" marT="9525" marB="0" anchor="ctr"/>
                </a:tc>
                <a:tc>
                  <a:txBody>
                    <a:bodyPr/>
                    <a:lstStyle/>
                    <a:p>
                      <a:pPr algn="ctr" fontAlgn="ctr"/>
                      <a:r>
                        <a:rPr lang="en-US" sz="1400" b="1" i="0" u="none" strike="noStrike" dirty="0">
                          <a:solidFill>
                            <a:schemeClr val="bg1"/>
                          </a:solidFill>
                          <a:effectLst/>
                          <a:latin typeface="+mj-lt"/>
                        </a:rPr>
                        <a:t>TIC TC Channel (Part 2)</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Corresponding TIC TC Channel (Part 3)</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3,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Temperature Delta (Part 3 –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Notes</a:t>
                      </a:r>
                    </a:p>
                  </a:txBody>
                  <a:tcPr marL="9525" marR="9525" marT="9525" marB="0" anchor="ctr"/>
                </a:tc>
                <a:extLst>
                  <a:ext uri="{0D108BD9-81ED-4DB2-BD59-A6C34878D82A}">
                    <a16:rowId xmlns:a16="http://schemas.microsoft.com/office/drawing/2014/main" val="3104794286"/>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19.349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19.332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-0.027</a:t>
                      </a:r>
                    </a:p>
                  </a:txBody>
                  <a:tcPr marL="9525" marR="9525" marT="9525" marB="0" anchor="ctr"/>
                </a:tc>
                <a:tc>
                  <a:txBody>
                    <a:bodyPr/>
                    <a:lstStyle/>
                    <a:p>
                      <a:pPr lvl="0" algn="ctr" fontAlgn="ctr"/>
                      <a:r>
                        <a:rPr lang="en-US" sz="1600" b="0" i="0" u="none" strike="noStrike">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129115819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19.299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19.293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-0.006</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4081047939"/>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19.658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19.640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-0.018</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3824230301"/>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19.329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0.026</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1363448347"/>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19.341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19.332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-0.009</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55718667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21.481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21.482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Spare – Recording ambient temperature. </a:t>
                      </a:r>
                    </a:p>
                  </a:txBody>
                  <a:tcPr marL="9525" marR="9525" marT="9525" marB="0" anchor="ctr"/>
                </a:tc>
                <a:extLst>
                  <a:ext uri="{0D108BD9-81ED-4DB2-BD59-A6C34878D82A}">
                    <a16:rowId xmlns:a16="http://schemas.microsoft.com/office/drawing/2014/main" val="3288867205"/>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19.321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19.353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67498730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19.253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19.311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0.058</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384799196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19.649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19.670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555110630"/>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19.624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19.666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0.042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143311268"/>
                  </a:ext>
                </a:extLst>
              </a:tr>
            </a:tbl>
          </a:graphicData>
        </a:graphic>
      </p:graphicFrame>
      <p:sp>
        <p:nvSpPr>
          <p:cNvPr id="5" name="TextBox 4">
            <a:extLst>
              <a:ext uri="{FF2B5EF4-FFF2-40B4-BE49-F238E27FC236}">
                <a16:creationId xmlns:a16="http://schemas.microsoft.com/office/drawing/2014/main" id="{4D4B64A0-5B98-2AAA-9E2F-8B2AE7E844A3}"/>
              </a:ext>
            </a:extLst>
          </p:cNvPr>
          <p:cNvSpPr txBox="1"/>
          <p:nvPr/>
        </p:nvSpPr>
        <p:spPr>
          <a:xfrm>
            <a:off x="650324" y="6186223"/>
            <a:ext cx="10891345" cy="369332"/>
          </a:xfrm>
          <a:prstGeom prst="rect">
            <a:avLst/>
          </a:prstGeom>
          <a:noFill/>
          <a:ln w="38100">
            <a:solidFill>
              <a:schemeClr val="accent1">
                <a:lumMod val="60000"/>
                <a:lumOff val="40000"/>
              </a:schemeClr>
            </a:solidFill>
          </a:ln>
        </p:spPr>
        <p:txBody>
          <a:bodyPr wrap="square" rtlCol="0">
            <a:spAutoFit/>
          </a:bodyPr>
          <a:lstStyle/>
          <a:p>
            <a:r>
              <a:rPr lang="en-US" dirty="0"/>
              <a:t>Deltas range from </a:t>
            </a:r>
            <a:r>
              <a:rPr lang="en-US" b="1" dirty="0"/>
              <a:t>-0.027°C to +0.058°C</a:t>
            </a:r>
            <a:r>
              <a:rPr lang="en-US" dirty="0"/>
              <a:t>, larger magnitude deltas but still negligible.</a:t>
            </a:r>
          </a:p>
        </p:txBody>
      </p:sp>
    </p:spTree>
    <p:extLst>
      <p:ext uri="{BB962C8B-B14F-4D97-AF65-F5344CB8AC3E}">
        <p14:creationId xmlns:p14="http://schemas.microsoft.com/office/powerpoint/2010/main" val="30460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showing thermocouple swap test&#10;&#10;Description automatically generated">
            <a:extLst>
              <a:ext uri="{FF2B5EF4-FFF2-40B4-BE49-F238E27FC236}">
                <a16:creationId xmlns:a16="http://schemas.microsoft.com/office/drawing/2014/main" id="{C33C9EA6-725D-010C-39DC-7F64BB946BFB}"/>
              </a:ext>
            </a:extLst>
          </p:cNvPr>
          <p:cNvPicPr>
            <a:picLocks noGrp="1" noRot="1" noChangeAspect="1" noMove="1" noResize="1" noEditPoints="1" noAdjustHandles="1" noChangeArrowheads="1" noChangeShapeType="1" noCrop="1"/>
          </p:cNvPicPr>
          <p:nvPr/>
        </p:nvPicPr>
        <p:blipFill>
          <a:blip r:embed="rId2"/>
          <a:stretch>
            <a:fillRect/>
          </a:stretch>
        </p:blipFill>
        <p:spPr>
          <a:xfrm>
            <a:off x="-677462" y="0"/>
            <a:ext cx="11912368" cy="6807067"/>
          </a:xfrm>
          <a:prstGeom prst="rect">
            <a:avLst/>
          </a:prstGeom>
        </p:spPr>
      </p:pic>
      <p:sp>
        <p:nvSpPr>
          <p:cNvPr id="14" name="TextBox 13">
            <a:extLst>
              <a:ext uri="{FF2B5EF4-FFF2-40B4-BE49-F238E27FC236}">
                <a16:creationId xmlns:a16="http://schemas.microsoft.com/office/drawing/2014/main" id="{6A747922-FC59-237C-6B72-5812E45D7F16}"/>
              </a:ext>
            </a:extLst>
          </p:cNvPr>
          <p:cNvSpPr txBox="1">
            <a:spLocks noGrp="1" noRot="1" noMove="1" noResize="1" noEditPoints="1" noAdjustHandles="1" noChangeArrowheads="1" noChangeShapeType="1"/>
          </p:cNvSpPr>
          <p:nvPr/>
        </p:nvSpPr>
        <p:spPr>
          <a:xfrm>
            <a:off x="10878897" y="736025"/>
            <a:ext cx="1313104" cy="523220"/>
          </a:xfrm>
          <a:prstGeom prst="rect">
            <a:avLst/>
          </a:prstGeom>
          <a:noFill/>
        </p:spPr>
        <p:txBody>
          <a:bodyPr wrap="square" rtlCol="0">
            <a:spAutoFit/>
          </a:bodyPr>
          <a:lstStyle/>
          <a:p>
            <a:r>
              <a:rPr lang="en-US" dirty="0">
                <a:solidFill>
                  <a:srgbClr val="C00000"/>
                </a:solidFill>
              </a:rPr>
              <a:t>Bundle 1</a:t>
            </a:r>
          </a:p>
          <a:p>
            <a:r>
              <a:rPr lang="el-GR" sz="1000" b="0" i="0" dirty="0">
                <a:solidFill>
                  <a:srgbClr val="C00000"/>
                </a:solidFill>
                <a:effectLst/>
                <a:latin typeface="Google Sans"/>
              </a:rPr>
              <a:t>Δ</a:t>
            </a:r>
            <a:r>
              <a:rPr lang="en-US" sz="1000" b="0" i="0" dirty="0" err="1">
                <a:solidFill>
                  <a:srgbClr val="C00000"/>
                </a:solidFill>
                <a:effectLst/>
                <a:latin typeface="Google Sans"/>
              </a:rPr>
              <a:t>T</a:t>
            </a:r>
            <a:r>
              <a:rPr lang="en-US" sz="1000" b="0" i="0" baseline="-25000" dirty="0" err="1">
                <a:solidFill>
                  <a:srgbClr val="C00000"/>
                </a:solidFill>
                <a:effectLst/>
                <a:latin typeface="Google Sans"/>
              </a:rPr>
              <a:t>New</a:t>
            </a:r>
            <a:r>
              <a:rPr lang="en-US" sz="1000" b="0" i="0" baseline="-25000" dirty="0">
                <a:solidFill>
                  <a:srgbClr val="C00000"/>
                </a:solidFill>
                <a:effectLst/>
                <a:latin typeface="Google Sans"/>
              </a:rPr>
              <a:t> – Legacy</a:t>
            </a:r>
            <a:r>
              <a:rPr lang="en-US" sz="1000" b="0" i="0" dirty="0">
                <a:solidFill>
                  <a:srgbClr val="C00000"/>
                </a:solidFill>
                <a:effectLst/>
                <a:latin typeface="Google Sans"/>
              </a:rPr>
              <a:t> ~ 0.35 </a:t>
            </a:r>
            <a:r>
              <a:rPr lang="en-US" sz="1000" dirty="0">
                <a:solidFill>
                  <a:srgbClr val="C00000"/>
                </a:solidFill>
              </a:rPr>
              <a:t>°C </a:t>
            </a:r>
          </a:p>
        </p:txBody>
      </p:sp>
      <p:cxnSp>
        <p:nvCxnSpPr>
          <p:cNvPr id="15" name="Straight Arrow Connector 14">
            <a:extLst>
              <a:ext uri="{FF2B5EF4-FFF2-40B4-BE49-F238E27FC236}">
                <a16:creationId xmlns:a16="http://schemas.microsoft.com/office/drawing/2014/main" id="{874AF440-9CBF-FF80-9D1D-A83A6ABCDCF4}"/>
              </a:ext>
            </a:extLst>
          </p:cNvPr>
          <p:cNvCxnSpPr>
            <a:cxnSpLocks noGrp="1" noRot="1" noMove="1" noResize="1" noEditPoints="1" noAdjustHandles="1" noChangeArrowheads="1" noChangeShapeType="1"/>
            <a:stCxn id="14" idx="1"/>
            <a:endCxn id="17" idx="6"/>
          </p:cNvCxnSpPr>
          <p:nvPr/>
        </p:nvCxnSpPr>
        <p:spPr>
          <a:xfrm flipH="1" flipV="1">
            <a:off x="9638950" y="637405"/>
            <a:ext cx="1239947" cy="360230"/>
          </a:xfrm>
          <a:prstGeom prst="straightConnector1">
            <a:avLst/>
          </a:prstGeom>
          <a:ln>
            <a:solidFill>
              <a:srgbClr val="C00000"/>
            </a:solidFill>
            <a:tailEnd type="triangle"/>
          </a:ln>
        </p:spPr>
        <p:style>
          <a:lnRef idx="2">
            <a:schemeClr val="accent3"/>
          </a:lnRef>
          <a:fillRef idx="0">
            <a:schemeClr val="accent3"/>
          </a:fillRef>
          <a:effectRef idx="1">
            <a:schemeClr val="accent3"/>
          </a:effectRef>
          <a:fontRef idx="minor">
            <a:schemeClr val="tx1"/>
          </a:fontRef>
        </p:style>
      </p:cxnSp>
      <p:cxnSp>
        <p:nvCxnSpPr>
          <p:cNvPr id="16" name="Straight Arrow Connector 15">
            <a:extLst>
              <a:ext uri="{FF2B5EF4-FFF2-40B4-BE49-F238E27FC236}">
                <a16:creationId xmlns:a16="http://schemas.microsoft.com/office/drawing/2014/main" id="{A33A1BF4-DA0A-95AB-E29F-AF965CD7B621}"/>
              </a:ext>
            </a:extLst>
          </p:cNvPr>
          <p:cNvCxnSpPr>
            <a:cxnSpLocks noGrp="1" noRot="1" noMove="1" noResize="1" noEditPoints="1" noAdjustHandles="1" noChangeArrowheads="1" noChangeShapeType="1"/>
            <a:stCxn id="14" idx="1"/>
          </p:cNvCxnSpPr>
          <p:nvPr/>
        </p:nvCxnSpPr>
        <p:spPr>
          <a:xfrm flipH="1">
            <a:off x="9393252" y="997635"/>
            <a:ext cx="1485645" cy="2405898"/>
          </a:xfrm>
          <a:prstGeom prst="straightConnector1">
            <a:avLst/>
          </a:prstGeom>
          <a:ln>
            <a:solidFill>
              <a:srgbClr val="C00000"/>
            </a:solidFill>
            <a:tailEnd type="triangle"/>
          </a:ln>
        </p:spPr>
        <p:style>
          <a:lnRef idx="2">
            <a:schemeClr val="accent3"/>
          </a:lnRef>
          <a:fillRef idx="0">
            <a:schemeClr val="accent3"/>
          </a:fillRef>
          <a:effectRef idx="1">
            <a:schemeClr val="accent3"/>
          </a:effectRef>
          <a:fontRef idx="minor">
            <a:schemeClr val="tx1"/>
          </a:fontRef>
        </p:style>
      </p:cxnSp>
      <p:sp>
        <p:nvSpPr>
          <p:cNvPr id="17" name="Oval 16">
            <a:extLst>
              <a:ext uri="{FF2B5EF4-FFF2-40B4-BE49-F238E27FC236}">
                <a16:creationId xmlns:a16="http://schemas.microsoft.com/office/drawing/2014/main" id="{A51C444F-EE2F-5EB4-CF7D-46411ED3CB99}"/>
              </a:ext>
            </a:extLst>
          </p:cNvPr>
          <p:cNvSpPr>
            <a:spLocks noGrp="1" noRot="1" noMove="1" noResize="1" noEditPoints="1" noAdjustHandles="1" noChangeArrowheads="1" noChangeShapeType="1"/>
          </p:cNvSpPr>
          <p:nvPr/>
        </p:nvSpPr>
        <p:spPr>
          <a:xfrm>
            <a:off x="9393252" y="407979"/>
            <a:ext cx="245698" cy="458851"/>
          </a:xfrm>
          <a:prstGeom prst="ellipse">
            <a:avLst/>
          </a:prstGeom>
          <a:noFill/>
          <a:ln>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D72B83C8-E12A-C095-85DA-B6B1A4A5ADE1}"/>
              </a:ext>
            </a:extLst>
          </p:cNvPr>
          <p:cNvCxnSpPr>
            <a:cxnSpLocks noGrp="1" noRot="1" noMove="1" noResize="1" noEditPoints="1" noAdjustHandles="1" noChangeArrowheads="1" noChangeShapeType="1"/>
            <a:stCxn id="34" idx="1"/>
            <a:endCxn id="36" idx="6"/>
          </p:cNvCxnSpPr>
          <p:nvPr/>
        </p:nvCxnSpPr>
        <p:spPr>
          <a:xfrm flipH="1" flipV="1">
            <a:off x="9638950" y="1128440"/>
            <a:ext cx="1239947" cy="798788"/>
          </a:xfrm>
          <a:prstGeom prst="straightConnector1">
            <a:avLst/>
          </a:prstGeom>
          <a:ln>
            <a:solidFill>
              <a:schemeClr val="tx2">
                <a:lumMod val="75000"/>
                <a:lumOff val="25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33" name="Straight Arrow Connector 32">
            <a:extLst>
              <a:ext uri="{FF2B5EF4-FFF2-40B4-BE49-F238E27FC236}">
                <a16:creationId xmlns:a16="http://schemas.microsoft.com/office/drawing/2014/main" id="{3CB1EBF5-A551-A964-975D-A49C09DD38DB}"/>
              </a:ext>
            </a:extLst>
          </p:cNvPr>
          <p:cNvCxnSpPr>
            <a:cxnSpLocks noGrp="1" noRot="1" noMove="1" noResize="1" noEditPoints="1" noAdjustHandles="1" noChangeArrowheads="1" noChangeShapeType="1"/>
            <a:stCxn id="34" idx="1"/>
          </p:cNvCxnSpPr>
          <p:nvPr/>
        </p:nvCxnSpPr>
        <p:spPr>
          <a:xfrm flipH="1">
            <a:off x="9447660" y="1927228"/>
            <a:ext cx="1431237" cy="1527240"/>
          </a:xfrm>
          <a:prstGeom prst="straightConnector1">
            <a:avLst/>
          </a:prstGeom>
          <a:ln>
            <a:solidFill>
              <a:schemeClr val="tx2">
                <a:lumMod val="75000"/>
                <a:lumOff val="25000"/>
              </a:schemeClr>
            </a:solidFill>
            <a:tailEnd type="triangle"/>
          </a:ln>
        </p:spPr>
        <p:style>
          <a:lnRef idx="2">
            <a:schemeClr val="accent2"/>
          </a:lnRef>
          <a:fillRef idx="0">
            <a:schemeClr val="accent2"/>
          </a:fillRef>
          <a:effectRef idx="1">
            <a:schemeClr val="accent2"/>
          </a:effectRef>
          <a:fontRef idx="minor">
            <a:schemeClr val="tx1"/>
          </a:fontRef>
        </p:style>
      </p:cxnSp>
      <p:sp>
        <p:nvSpPr>
          <p:cNvPr id="34" name="TextBox 33">
            <a:extLst>
              <a:ext uri="{FF2B5EF4-FFF2-40B4-BE49-F238E27FC236}">
                <a16:creationId xmlns:a16="http://schemas.microsoft.com/office/drawing/2014/main" id="{FA4E9435-24D6-CFC1-D443-4DE5AF3CFD17}"/>
              </a:ext>
            </a:extLst>
          </p:cNvPr>
          <p:cNvSpPr txBox="1">
            <a:spLocks noGrp="1" noRot="1" noMove="1" noResize="1" noEditPoints="1" noAdjustHandles="1" noChangeArrowheads="1" noChangeShapeType="1"/>
          </p:cNvSpPr>
          <p:nvPr/>
        </p:nvSpPr>
        <p:spPr>
          <a:xfrm>
            <a:off x="10878897" y="1665618"/>
            <a:ext cx="1327453" cy="523220"/>
          </a:xfrm>
          <a:prstGeom prst="rect">
            <a:avLst/>
          </a:prstGeom>
          <a:noFill/>
        </p:spPr>
        <p:txBody>
          <a:bodyPr wrap="square" rtlCol="0">
            <a:spAutoFit/>
          </a:bodyPr>
          <a:lstStyle/>
          <a:p>
            <a:r>
              <a:rPr lang="en-US" dirty="0">
                <a:solidFill>
                  <a:schemeClr val="tx2">
                    <a:lumMod val="75000"/>
                    <a:lumOff val="25000"/>
                  </a:schemeClr>
                </a:solidFill>
              </a:rPr>
              <a:t>Bundle 2</a:t>
            </a:r>
          </a:p>
          <a:p>
            <a:r>
              <a:rPr lang="el-GR" sz="1000" b="0" i="0" dirty="0">
                <a:solidFill>
                  <a:schemeClr val="tx2">
                    <a:lumMod val="75000"/>
                    <a:lumOff val="25000"/>
                  </a:schemeClr>
                </a:solidFill>
                <a:effectLst/>
                <a:latin typeface="Google Sans"/>
              </a:rPr>
              <a:t>Δ</a:t>
            </a:r>
            <a:r>
              <a:rPr lang="en-US" sz="1000" b="0" i="0" dirty="0" err="1">
                <a:solidFill>
                  <a:schemeClr val="tx2">
                    <a:lumMod val="75000"/>
                    <a:lumOff val="25000"/>
                  </a:schemeClr>
                </a:solidFill>
                <a:effectLst/>
                <a:latin typeface="Google Sans"/>
              </a:rPr>
              <a:t>T</a:t>
            </a:r>
            <a:r>
              <a:rPr lang="en-US" sz="1000" b="0" i="0" baseline="-25000" dirty="0" err="1">
                <a:solidFill>
                  <a:schemeClr val="tx2">
                    <a:lumMod val="75000"/>
                    <a:lumOff val="25000"/>
                  </a:schemeClr>
                </a:solidFill>
                <a:effectLst/>
                <a:latin typeface="Google Sans"/>
              </a:rPr>
              <a:t>New</a:t>
            </a:r>
            <a:r>
              <a:rPr lang="en-US" sz="1000" b="0" i="0" baseline="-25000" dirty="0">
                <a:solidFill>
                  <a:schemeClr val="tx2">
                    <a:lumMod val="75000"/>
                    <a:lumOff val="25000"/>
                  </a:schemeClr>
                </a:solidFill>
                <a:effectLst/>
                <a:latin typeface="Google Sans"/>
              </a:rPr>
              <a:t> – Legacy</a:t>
            </a:r>
            <a:r>
              <a:rPr lang="en-US" sz="1000" b="0" i="0" dirty="0">
                <a:solidFill>
                  <a:schemeClr val="tx2">
                    <a:lumMod val="75000"/>
                    <a:lumOff val="25000"/>
                  </a:schemeClr>
                </a:solidFill>
                <a:effectLst/>
                <a:latin typeface="Google Sans"/>
              </a:rPr>
              <a:t> ~ 0.29 </a:t>
            </a:r>
            <a:r>
              <a:rPr lang="en-US" sz="1000" dirty="0">
                <a:solidFill>
                  <a:schemeClr val="tx2">
                    <a:lumMod val="75000"/>
                    <a:lumOff val="25000"/>
                  </a:schemeClr>
                </a:solidFill>
              </a:rPr>
              <a:t>°C </a:t>
            </a:r>
          </a:p>
        </p:txBody>
      </p:sp>
      <p:sp>
        <p:nvSpPr>
          <p:cNvPr id="36" name="Oval 35">
            <a:extLst>
              <a:ext uri="{FF2B5EF4-FFF2-40B4-BE49-F238E27FC236}">
                <a16:creationId xmlns:a16="http://schemas.microsoft.com/office/drawing/2014/main" id="{F64A2B3D-37B0-4E44-1F9A-71B9F55788AA}"/>
              </a:ext>
            </a:extLst>
          </p:cNvPr>
          <p:cNvSpPr>
            <a:spLocks noGrp="1" noRot="1" noMove="1" noResize="1" noEditPoints="1" noAdjustHandles="1" noChangeArrowheads="1" noChangeShapeType="1"/>
          </p:cNvSpPr>
          <p:nvPr/>
        </p:nvSpPr>
        <p:spPr>
          <a:xfrm>
            <a:off x="9393252" y="899014"/>
            <a:ext cx="245698" cy="458851"/>
          </a:xfrm>
          <a:prstGeom prst="ellipse">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98017252-A5EC-1764-E34B-D49381DF7224}"/>
              </a:ext>
            </a:extLst>
          </p:cNvPr>
          <p:cNvCxnSpPr>
            <a:cxnSpLocks noGrp="1" noRot="1" noMove="1" noResize="1" noEditPoints="1" noAdjustHandles="1" noChangeArrowheads="1" noChangeShapeType="1"/>
            <a:stCxn id="45" idx="1"/>
            <a:endCxn id="46" idx="6"/>
          </p:cNvCxnSpPr>
          <p:nvPr/>
        </p:nvCxnSpPr>
        <p:spPr>
          <a:xfrm flipH="1" flipV="1">
            <a:off x="9638950" y="1848901"/>
            <a:ext cx="1239947" cy="94313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FCD3DD33-78C1-72DE-44F2-14652FB7453E}"/>
              </a:ext>
            </a:extLst>
          </p:cNvPr>
          <p:cNvCxnSpPr>
            <a:cxnSpLocks noGrp="1" noRot="1" noMove="1" noResize="1" noEditPoints="1" noAdjustHandles="1" noChangeArrowheads="1" noChangeShapeType="1"/>
          </p:cNvCxnSpPr>
          <p:nvPr/>
        </p:nvCxnSpPr>
        <p:spPr>
          <a:xfrm flipH="1">
            <a:off x="9474864" y="2789481"/>
            <a:ext cx="1404033" cy="1864803"/>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F0D4FE2-7ED1-02AA-B070-9E9DF9D60A6C}"/>
              </a:ext>
            </a:extLst>
          </p:cNvPr>
          <p:cNvSpPr txBox="1">
            <a:spLocks noGrp="1" noRot="1" noMove="1" noResize="1" noEditPoints="1" noAdjustHandles="1" noChangeArrowheads="1" noChangeShapeType="1"/>
          </p:cNvSpPr>
          <p:nvPr/>
        </p:nvSpPr>
        <p:spPr>
          <a:xfrm>
            <a:off x="10878897" y="2530426"/>
            <a:ext cx="1327453" cy="523220"/>
          </a:xfrm>
          <a:prstGeom prst="rect">
            <a:avLst/>
          </a:prstGeom>
          <a:noFill/>
        </p:spPr>
        <p:txBody>
          <a:bodyPr wrap="square" rtlCol="0">
            <a:spAutoFit/>
          </a:bodyPr>
          <a:lstStyle/>
          <a:p>
            <a:r>
              <a:rPr lang="en-US" dirty="0">
                <a:solidFill>
                  <a:schemeClr val="accent2"/>
                </a:solidFill>
              </a:rPr>
              <a:t>Bundle 3</a:t>
            </a:r>
          </a:p>
          <a:p>
            <a:r>
              <a:rPr lang="el-GR" sz="1000" b="0" i="0" dirty="0">
                <a:solidFill>
                  <a:schemeClr val="accent2"/>
                </a:solidFill>
                <a:effectLst/>
                <a:latin typeface="Google Sans"/>
              </a:rPr>
              <a:t>Δ</a:t>
            </a:r>
            <a:r>
              <a:rPr lang="en-US" sz="1000" b="0" i="0" dirty="0" err="1">
                <a:solidFill>
                  <a:schemeClr val="accent2"/>
                </a:solidFill>
                <a:effectLst/>
                <a:latin typeface="Google Sans"/>
              </a:rPr>
              <a:t>T</a:t>
            </a:r>
            <a:r>
              <a:rPr lang="en-US" sz="1000" b="0" i="0" baseline="-25000" dirty="0" err="1">
                <a:solidFill>
                  <a:schemeClr val="accent2"/>
                </a:solidFill>
                <a:effectLst/>
                <a:latin typeface="Google Sans"/>
              </a:rPr>
              <a:t>New</a:t>
            </a:r>
            <a:r>
              <a:rPr lang="en-US" sz="1000" b="0" i="0" baseline="-25000" dirty="0">
                <a:solidFill>
                  <a:schemeClr val="accent2"/>
                </a:solidFill>
                <a:effectLst/>
                <a:latin typeface="Google Sans"/>
              </a:rPr>
              <a:t> – Legacy</a:t>
            </a:r>
            <a:r>
              <a:rPr lang="en-US" sz="1000" b="0" i="0" dirty="0">
                <a:solidFill>
                  <a:schemeClr val="accent2"/>
                </a:solidFill>
                <a:effectLst/>
                <a:latin typeface="Google Sans"/>
              </a:rPr>
              <a:t> ~ 0.36 </a:t>
            </a:r>
            <a:r>
              <a:rPr lang="en-US" sz="1000" dirty="0">
                <a:solidFill>
                  <a:schemeClr val="accent2"/>
                </a:solidFill>
              </a:rPr>
              <a:t>°C </a:t>
            </a:r>
          </a:p>
        </p:txBody>
      </p:sp>
      <p:sp>
        <p:nvSpPr>
          <p:cNvPr id="46" name="Oval 45">
            <a:extLst>
              <a:ext uri="{FF2B5EF4-FFF2-40B4-BE49-F238E27FC236}">
                <a16:creationId xmlns:a16="http://schemas.microsoft.com/office/drawing/2014/main" id="{FCFC7E6E-19A3-00F4-BD5D-23BC3A815616}"/>
              </a:ext>
            </a:extLst>
          </p:cNvPr>
          <p:cNvSpPr>
            <a:spLocks noGrp="1" noRot="1" noMove="1" noResize="1" noEditPoints="1" noAdjustHandles="1" noChangeArrowheads="1" noChangeShapeType="1"/>
          </p:cNvSpPr>
          <p:nvPr/>
        </p:nvSpPr>
        <p:spPr>
          <a:xfrm>
            <a:off x="9393252" y="1619475"/>
            <a:ext cx="245698" cy="458851"/>
          </a:xfrm>
          <a:prstGeom prst="ellipse">
            <a:avLst/>
          </a:prstGeom>
          <a:noFill/>
          <a:ln>
            <a:solidFill>
              <a:schemeClr val="accent2"/>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C0939422-C834-F47B-02A2-9D29DC21BE70}"/>
              </a:ext>
            </a:extLst>
          </p:cNvPr>
          <p:cNvSpPr txBox="1">
            <a:spLocks noGrp="1" noRot="1" noMove="1" noResize="1" noEditPoints="1" noAdjustHandles="1" noChangeArrowheads="1" noChangeShapeType="1"/>
          </p:cNvSpPr>
          <p:nvPr/>
        </p:nvSpPr>
        <p:spPr>
          <a:xfrm>
            <a:off x="7192658" y="5397776"/>
            <a:ext cx="1505607" cy="369332"/>
          </a:xfrm>
          <a:prstGeom prst="rect">
            <a:avLst/>
          </a:prstGeom>
          <a:noFill/>
        </p:spPr>
        <p:txBody>
          <a:bodyPr wrap="square" rtlCol="0">
            <a:spAutoFit/>
          </a:bodyPr>
          <a:lstStyle/>
          <a:p>
            <a:pPr algn="ctr"/>
            <a:r>
              <a:rPr lang="en-US" b="1" dirty="0"/>
              <a:t>Part 2</a:t>
            </a:r>
          </a:p>
        </p:txBody>
      </p:sp>
      <p:sp>
        <p:nvSpPr>
          <p:cNvPr id="50" name="TextBox 49">
            <a:extLst>
              <a:ext uri="{FF2B5EF4-FFF2-40B4-BE49-F238E27FC236}">
                <a16:creationId xmlns:a16="http://schemas.microsoft.com/office/drawing/2014/main" id="{025F15F5-2876-0A31-E097-4AED8FD65086}"/>
              </a:ext>
            </a:extLst>
          </p:cNvPr>
          <p:cNvSpPr txBox="1">
            <a:spLocks noGrp="1" noRot="1" noMove="1" noResize="1" noEditPoints="1" noAdjustHandles="1" noChangeArrowheads="1" noChangeShapeType="1"/>
          </p:cNvSpPr>
          <p:nvPr/>
        </p:nvSpPr>
        <p:spPr>
          <a:xfrm>
            <a:off x="2523546" y="5389309"/>
            <a:ext cx="1505607" cy="369332"/>
          </a:xfrm>
          <a:prstGeom prst="rect">
            <a:avLst/>
          </a:prstGeom>
          <a:noFill/>
        </p:spPr>
        <p:txBody>
          <a:bodyPr wrap="square" rtlCol="0">
            <a:spAutoFit/>
          </a:bodyPr>
          <a:lstStyle/>
          <a:p>
            <a:pPr algn="ctr"/>
            <a:r>
              <a:rPr lang="en-US" b="1" dirty="0"/>
              <a:t>Part 1</a:t>
            </a:r>
          </a:p>
        </p:txBody>
      </p:sp>
      <p:pic>
        <p:nvPicPr>
          <p:cNvPr id="52" name="Picture 51" descr="A close-up of a number&#10;&#10;Description automatically generated">
            <a:extLst>
              <a:ext uri="{FF2B5EF4-FFF2-40B4-BE49-F238E27FC236}">
                <a16:creationId xmlns:a16="http://schemas.microsoft.com/office/drawing/2014/main" id="{07F3D908-8575-C3A1-419A-8DCE7E85CD56}"/>
              </a:ext>
            </a:extLst>
          </p:cNvPr>
          <p:cNvPicPr>
            <a:picLocks noGrp="1" noRot="1" noChangeAspect="1" noMove="1" noResize="1" noEditPoints="1" noAdjustHandles="1" noChangeArrowheads="1" noChangeShapeType="1" noCrop="1"/>
          </p:cNvPicPr>
          <p:nvPr/>
        </p:nvPicPr>
        <p:blipFill>
          <a:blip r:embed="rId3"/>
          <a:stretch>
            <a:fillRect/>
          </a:stretch>
        </p:blipFill>
        <p:spPr>
          <a:xfrm>
            <a:off x="1055163" y="4671062"/>
            <a:ext cx="702237" cy="1260573"/>
          </a:xfrm>
          <a:prstGeom prst="rect">
            <a:avLst/>
          </a:prstGeom>
          <a:ln w="3175">
            <a:solidFill>
              <a:schemeClr val="tx1"/>
            </a:solidFill>
          </a:ln>
        </p:spPr>
      </p:pic>
      <p:pic>
        <p:nvPicPr>
          <p:cNvPr id="54" name="Picture 53" descr="A close-up of a number&#10;&#10;Description automatically generated">
            <a:extLst>
              <a:ext uri="{FF2B5EF4-FFF2-40B4-BE49-F238E27FC236}">
                <a16:creationId xmlns:a16="http://schemas.microsoft.com/office/drawing/2014/main" id="{21D3A635-9A93-4CD9-D2E8-53B1C677F338}"/>
              </a:ext>
            </a:extLst>
          </p:cNvPr>
          <p:cNvPicPr>
            <a:picLocks noGrp="1" noRot="1" noChangeAspect="1" noMove="1" noResize="1" noEditPoints="1" noAdjustHandles="1" noChangeArrowheads="1" noChangeShapeType="1" noCrop="1"/>
          </p:cNvPicPr>
          <p:nvPr/>
        </p:nvPicPr>
        <p:blipFill>
          <a:blip r:embed="rId4"/>
          <a:stretch>
            <a:fillRect/>
          </a:stretch>
        </p:blipFill>
        <p:spPr>
          <a:xfrm>
            <a:off x="9255162" y="4735152"/>
            <a:ext cx="767576" cy="1260573"/>
          </a:xfrm>
          <a:prstGeom prst="rect">
            <a:avLst/>
          </a:prstGeom>
          <a:ln w="3175">
            <a:solidFill>
              <a:schemeClr val="tx1"/>
            </a:solidFill>
          </a:ln>
        </p:spPr>
      </p:pic>
      <p:sp>
        <p:nvSpPr>
          <p:cNvPr id="56" name="TextBox 55">
            <a:extLst>
              <a:ext uri="{FF2B5EF4-FFF2-40B4-BE49-F238E27FC236}">
                <a16:creationId xmlns:a16="http://schemas.microsoft.com/office/drawing/2014/main" id="{5689E209-FF81-38A1-BE16-8A0164B9F0F2}"/>
              </a:ext>
            </a:extLst>
          </p:cNvPr>
          <p:cNvSpPr txBox="1">
            <a:spLocks noGrp="1" noRot="1" noMove="1" noResize="1" noEditPoints="1" noAdjustHandles="1" noChangeArrowheads="1" noChangeShapeType="1"/>
          </p:cNvSpPr>
          <p:nvPr/>
        </p:nvSpPr>
        <p:spPr>
          <a:xfrm>
            <a:off x="5130800" y="1019311"/>
            <a:ext cx="1088874" cy="338554"/>
          </a:xfrm>
          <a:prstGeom prst="rect">
            <a:avLst/>
          </a:prstGeom>
          <a:noFill/>
        </p:spPr>
        <p:txBody>
          <a:bodyPr wrap="square" rtlCol="0">
            <a:spAutoFit/>
          </a:bodyPr>
          <a:lstStyle/>
          <a:p>
            <a:r>
              <a:rPr lang="en-US" sz="1600" dirty="0">
                <a:solidFill>
                  <a:schemeClr val="tx2">
                    <a:lumMod val="75000"/>
                    <a:lumOff val="25000"/>
                  </a:schemeClr>
                </a:solidFill>
              </a:rPr>
              <a:t>~ 19.92 °C </a:t>
            </a:r>
          </a:p>
        </p:txBody>
      </p:sp>
      <p:sp>
        <p:nvSpPr>
          <p:cNvPr id="57" name="TextBox 56">
            <a:extLst>
              <a:ext uri="{FF2B5EF4-FFF2-40B4-BE49-F238E27FC236}">
                <a16:creationId xmlns:a16="http://schemas.microsoft.com/office/drawing/2014/main" id="{A8DA5026-1244-CA1E-AF1A-E0D386E02C31}"/>
              </a:ext>
            </a:extLst>
          </p:cNvPr>
          <p:cNvSpPr txBox="1">
            <a:spLocks noGrp="1" noRot="1" noMove="1" noResize="1" noEditPoints="1" noAdjustHandles="1" noChangeArrowheads="1" noChangeShapeType="1"/>
          </p:cNvSpPr>
          <p:nvPr/>
        </p:nvSpPr>
        <p:spPr>
          <a:xfrm>
            <a:off x="5130800" y="528276"/>
            <a:ext cx="1088874" cy="338554"/>
          </a:xfrm>
          <a:prstGeom prst="rect">
            <a:avLst/>
          </a:prstGeom>
          <a:noFill/>
        </p:spPr>
        <p:txBody>
          <a:bodyPr wrap="square" rtlCol="0">
            <a:spAutoFit/>
          </a:bodyPr>
          <a:lstStyle/>
          <a:p>
            <a:r>
              <a:rPr lang="en-US" sz="1600" dirty="0">
                <a:solidFill>
                  <a:srgbClr val="C00000"/>
                </a:solidFill>
              </a:rPr>
              <a:t>~ 19.98 °C </a:t>
            </a:r>
          </a:p>
        </p:txBody>
      </p:sp>
      <p:sp>
        <p:nvSpPr>
          <p:cNvPr id="58" name="TextBox 57">
            <a:extLst>
              <a:ext uri="{FF2B5EF4-FFF2-40B4-BE49-F238E27FC236}">
                <a16:creationId xmlns:a16="http://schemas.microsoft.com/office/drawing/2014/main" id="{18E5277B-98AE-75CF-A9E1-3FFDED05FA7D}"/>
              </a:ext>
            </a:extLst>
          </p:cNvPr>
          <p:cNvSpPr txBox="1">
            <a:spLocks noGrp="1" noRot="1" noMove="1" noResize="1" noEditPoints="1" noAdjustHandles="1" noChangeArrowheads="1" noChangeShapeType="1"/>
          </p:cNvSpPr>
          <p:nvPr/>
        </p:nvSpPr>
        <p:spPr>
          <a:xfrm>
            <a:off x="5105400" y="1739772"/>
            <a:ext cx="1088874" cy="338554"/>
          </a:xfrm>
          <a:prstGeom prst="rect">
            <a:avLst/>
          </a:prstGeom>
          <a:noFill/>
        </p:spPr>
        <p:txBody>
          <a:bodyPr wrap="square" rtlCol="0">
            <a:spAutoFit/>
          </a:bodyPr>
          <a:lstStyle/>
          <a:p>
            <a:r>
              <a:rPr lang="en-US" sz="1600" dirty="0">
                <a:solidFill>
                  <a:schemeClr val="accent2"/>
                </a:solidFill>
              </a:rPr>
              <a:t>~ 19.83 °C </a:t>
            </a:r>
          </a:p>
        </p:txBody>
      </p:sp>
      <p:sp>
        <p:nvSpPr>
          <p:cNvPr id="59" name="TextBox 58">
            <a:extLst>
              <a:ext uri="{FF2B5EF4-FFF2-40B4-BE49-F238E27FC236}">
                <a16:creationId xmlns:a16="http://schemas.microsoft.com/office/drawing/2014/main" id="{47BFB579-6BEB-A990-506E-E8E005A60846}"/>
              </a:ext>
            </a:extLst>
          </p:cNvPr>
          <p:cNvSpPr txBox="1">
            <a:spLocks noGrp="1" noRot="1" noMove="1" noResize="1" noEditPoints="1" noAdjustHandles="1" noChangeArrowheads="1" noChangeShapeType="1"/>
          </p:cNvSpPr>
          <p:nvPr/>
        </p:nvSpPr>
        <p:spPr>
          <a:xfrm>
            <a:off x="5105400" y="4396598"/>
            <a:ext cx="1088874" cy="338554"/>
          </a:xfrm>
          <a:prstGeom prst="rect">
            <a:avLst/>
          </a:prstGeom>
          <a:noFill/>
        </p:spPr>
        <p:txBody>
          <a:bodyPr wrap="square" rtlCol="0">
            <a:spAutoFit/>
          </a:bodyPr>
          <a:lstStyle/>
          <a:p>
            <a:r>
              <a:rPr lang="en-US" sz="1600" dirty="0">
                <a:solidFill>
                  <a:schemeClr val="accent2"/>
                </a:solidFill>
              </a:rPr>
              <a:t>~ 19.47 °C </a:t>
            </a:r>
          </a:p>
        </p:txBody>
      </p:sp>
      <p:sp>
        <p:nvSpPr>
          <p:cNvPr id="61" name="TextBox 60">
            <a:extLst>
              <a:ext uri="{FF2B5EF4-FFF2-40B4-BE49-F238E27FC236}">
                <a16:creationId xmlns:a16="http://schemas.microsoft.com/office/drawing/2014/main" id="{ECB2A9E3-4CC7-5BEA-3D32-0E1A6317F8F2}"/>
              </a:ext>
            </a:extLst>
          </p:cNvPr>
          <p:cNvSpPr txBox="1">
            <a:spLocks noGrp="1" noRot="1" noMove="1" noResize="1" noEditPoints="1" noAdjustHandles="1" noChangeArrowheads="1" noChangeShapeType="1"/>
          </p:cNvSpPr>
          <p:nvPr/>
        </p:nvSpPr>
        <p:spPr>
          <a:xfrm>
            <a:off x="5105400" y="3574635"/>
            <a:ext cx="1088874" cy="338554"/>
          </a:xfrm>
          <a:prstGeom prst="rect">
            <a:avLst/>
          </a:prstGeom>
          <a:noFill/>
        </p:spPr>
        <p:txBody>
          <a:bodyPr wrap="square" rtlCol="0">
            <a:spAutoFit/>
          </a:bodyPr>
          <a:lstStyle/>
          <a:p>
            <a:r>
              <a:rPr lang="en-US" sz="1600" dirty="0">
                <a:solidFill>
                  <a:schemeClr val="tx2">
                    <a:lumMod val="75000"/>
                    <a:lumOff val="25000"/>
                  </a:schemeClr>
                </a:solidFill>
              </a:rPr>
              <a:t>~ 19.63 °C </a:t>
            </a:r>
          </a:p>
        </p:txBody>
      </p:sp>
      <p:sp>
        <p:nvSpPr>
          <p:cNvPr id="62" name="TextBox 61">
            <a:extLst>
              <a:ext uri="{FF2B5EF4-FFF2-40B4-BE49-F238E27FC236}">
                <a16:creationId xmlns:a16="http://schemas.microsoft.com/office/drawing/2014/main" id="{4C916B38-AE16-8A1C-4E4B-FE8851C04D28}"/>
              </a:ext>
            </a:extLst>
          </p:cNvPr>
          <p:cNvSpPr txBox="1">
            <a:spLocks noGrp="1" noRot="1" noMove="1" noResize="1" noEditPoints="1" noAdjustHandles="1" noChangeArrowheads="1" noChangeShapeType="1"/>
          </p:cNvSpPr>
          <p:nvPr/>
        </p:nvSpPr>
        <p:spPr>
          <a:xfrm>
            <a:off x="5130800" y="3072014"/>
            <a:ext cx="1088874" cy="338554"/>
          </a:xfrm>
          <a:prstGeom prst="rect">
            <a:avLst/>
          </a:prstGeom>
          <a:noFill/>
        </p:spPr>
        <p:txBody>
          <a:bodyPr wrap="square" rtlCol="0">
            <a:spAutoFit/>
          </a:bodyPr>
          <a:lstStyle/>
          <a:p>
            <a:r>
              <a:rPr lang="en-US" sz="1600" dirty="0">
                <a:solidFill>
                  <a:srgbClr val="C00000"/>
                </a:solidFill>
              </a:rPr>
              <a:t>~ 19.63 °C </a:t>
            </a:r>
          </a:p>
        </p:txBody>
      </p:sp>
      <p:sp>
        <p:nvSpPr>
          <p:cNvPr id="63" name="TextBox 62">
            <a:extLst>
              <a:ext uri="{FF2B5EF4-FFF2-40B4-BE49-F238E27FC236}">
                <a16:creationId xmlns:a16="http://schemas.microsoft.com/office/drawing/2014/main" id="{50829180-C2A5-B46D-D281-E18BA7CA852B}"/>
              </a:ext>
            </a:extLst>
          </p:cNvPr>
          <p:cNvSpPr txBox="1">
            <a:spLocks/>
          </p:cNvSpPr>
          <p:nvPr/>
        </p:nvSpPr>
        <p:spPr>
          <a:xfrm>
            <a:off x="5017087" y="1393043"/>
            <a:ext cx="1078913" cy="307777"/>
          </a:xfrm>
          <a:prstGeom prst="rect">
            <a:avLst/>
          </a:prstGeom>
          <a:noFill/>
        </p:spPr>
        <p:txBody>
          <a:bodyPr wrap="square" rtlCol="0">
            <a:spAutoFit/>
          </a:bodyPr>
          <a:lstStyle/>
          <a:p>
            <a:r>
              <a:rPr lang="en-US" sz="1400" dirty="0">
                <a:solidFill>
                  <a:schemeClr val="accent1">
                    <a:lumMod val="40000"/>
                    <a:lumOff val="60000"/>
                  </a:schemeClr>
                </a:solidFill>
              </a:rPr>
              <a:t>20.2641 °C </a:t>
            </a:r>
          </a:p>
        </p:txBody>
      </p:sp>
      <p:sp>
        <p:nvSpPr>
          <p:cNvPr id="64" name="TextBox 63">
            <a:extLst>
              <a:ext uri="{FF2B5EF4-FFF2-40B4-BE49-F238E27FC236}">
                <a16:creationId xmlns:a16="http://schemas.microsoft.com/office/drawing/2014/main" id="{E027AE16-BDBC-6392-07A0-407C6E3F9593}"/>
              </a:ext>
            </a:extLst>
          </p:cNvPr>
          <p:cNvSpPr txBox="1">
            <a:spLocks/>
          </p:cNvSpPr>
          <p:nvPr/>
        </p:nvSpPr>
        <p:spPr>
          <a:xfrm>
            <a:off x="5458430" y="4138748"/>
            <a:ext cx="1088874" cy="307777"/>
          </a:xfrm>
          <a:prstGeom prst="rect">
            <a:avLst/>
          </a:prstGeom>
          <a:noFill/>
        </p:spPr>
        <p:txBody>
          <a:bodyPr wrap="square" rtlCol="0">
            <a:spAutoFit/>
          </a:bodyPr>
          <a:lstStyle/>
          <a:p>
            <a:r>
              <a:rPr lang="en-US" sz="1400" dirty="0">
                <a:solidFill>
                  <a:schemeClr val="accent1">
                    <a:lumMod val="40000"/>
                    <a:lumOff val="60000"/>
                  </a:schemeClr>
                </a:solidFill>
              </a:rPr>
              <a:t>20.2537 °C </a:t>
            </a:r>
          </a:p>
        </p:txBody>
      </p:sp>
    </p:spTree>
    <p:extLst>
      <p:ext uri="{BB962C8B-B14F-4D97-AF65-F5344CB8AC3E}">
        <p14:creationId xmlns:p14="http://schemas.microsoft.com/office/powerpoint/2010/main" val="3848436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1E77A-8C47-94A9-374B-487A0A0F3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07B77-C205-95E4-8BDF-2E210E5A6A8C}"/>
              </a:ext>
            </a:extLst>
          </p:cNvPr>
          <p:cNvSpPr>
            <a:spLocks noGrp="1"/>
          </p:cNvSpPr>
          <p:nvPr>
            <p:ph type="title"/>
          </p:nvPr>
        </p:nvSpPr>
        <p:spPr>
          <a:xfrm>
            <a:off x="838198" y="14235"/>
            <a:ext cx="10515600" cy="1325563"/>
          </a:xfrm>
        </p:spPr>
        <p:txBody>
          <a:bodyPr/>
          <a:lstStyle/>
          <a:p>
            <a:pPr algn="ctr"/>
            <a:r>
              <a:rPr lang="en-US" dirty="0"/>
              <a:t>Table 3: Room Temperature Results 2</a:t>
            </a:r>
          </a:p>
        </p:txBody>
      </p:sp>
      <p:graphicFrame>
        <p:nvGraphicFramePr>
          <p:cNvPr id="4" name="Content Placeholder 3">
            <a:extLst>
              <a:ext uri="{FF2B5EF4-FFF2-40B4-BE49-F238E27FC236}">
                <a16:creationId xmlns:a16="http://schemas.microsoft.com/office/drawing/2014/main" id="{8D1E1054-F781-C33D-3CA0-981EF2369363}"/>
              </a:ext>
            </a:extLst>
          </p:cNvPr>
          <p:cNvGraphicFramePr>
            <a:graphicFrameLocks noGrp="1"/>
          </p:cNvGraphicFramePr>
          <p:nvPr>
            <p:ph idx="1"/>
            <p:extLst>
              <p:ext uri="{D42A27DB-BD31-4B8C-83A1-F6EECF244321}">
                <p14:modId xmlns:p14="http://schemas.microsoft.com/office/powerpoint/2010/main" val="2809788897"/>
              </p:ext>
            </p:extLst>
          </p:nvPr>
        </p:nvGraphicFramePr>
        <p:xfrm>
          <a:off x="838198" y="1371019"/>
          <a:ext cx="10515599" cy="4144645"/>
        </p:xfrm>
        <a:graphic>
          <a:graphicData uri="http://schemas.openxmlformats.org/drawingml/2006/table">
            <a:tbl>
              <a:tblPr firstRow="1" bandRow="1">
                <a:tableStyleId>{5C22544A-7EE6-4342-B048-85BDC9FD1C3A}</a:tableStyleId>
              </a:tblPr>
              <a:tblGrid>
                <a:gridCol w="541564">
                  <a:extLst>
                    <a:ext uri="{9D8B030D-6E8A-4147-A177-3AD203B41FA5}">
                      <a16:colId xmlns:a16="http://schemas.microsoft.com/office/drawing/2014/main" val="2932479768"/>
                    </a:ext>
                  </a:extLst>
                </a:gridCol>
                <a:gridCol w="1257300">
                  <a:extLst>
                    <a:ext uri="{9D8B030D-6E8A-4147-A177-3AD203B41FA5}">
                      <a16:colId xmlns:a16="http://schemas.microsoft.com/office/drawing/2014/main" val="1137581038"/>
                    </a:ext>
                  </a:extLst>
                </a:gridCol>
                <a:gridCol w="1126672">
                  <a:extLst>
                    <a:ext uri="{9D8B030D-6E8A-4147-A177-3AD203B41FA5}">
                      <a16:colId xmlns:a16="http://schemas.microsoft.com/office/drawing/2014/main" val="3818947068"/>
                    </a:ext>
                  </a:extLst>
                </a:gridCol>
                <a:gridCol w="1510393">
                  <a:extLst>
                    <a:ext uri="{9D8B030D-6E8A-4147-A177-3AD203B41FA5}">
                      <a16:colId xmlns:a16="http://schemas.microsoft.com/office/drawing/2014/main" val="873923221"/>
                    </a:ext>
                  </a:extLst>
                </a:gridCol>
                <a:gridCol w="1053192">
                  <a:extLst>
                    <a:ext uri="{9D8B030D-6E8A-4147-A177-3AD203B41FA5}">
                      <a16:colId xmlns:a16="http://schemas.microsoft.com/office/drawing/2014/main" val="2973435756"/>
                    </a:ext>
                  </a:extLst>
                </a:gridCol>
                <a:gridCol w="1468727">
                  <a:extLst>
                    <a:ext uri="{9D8B030D-6E8A-4147-A177-3AD203B41FA5}">
                      <a16:colId xmlns:a16="http://schemas.microsoft.com/office/drawing/2014/main" val="3517002371"/>
                    </a:ext>
                  </a:extLst>
                </a:gridCol>
                <a:gridCol w="3557751">
                  <a:extLst>
                    <a:ext uri="{9D8B030D-6E8A-4147-A177-3AD203B41FA5}">
                      <a16:colId xmlns:a16="http://schemas.microsoft.com/office/drawing/2014/main" val="2705001639"/>
                    </a:ext>
                  </a:extLst>
                </a:gridCol>
              </a:tblGrid>
              <a:tr h="370840">
                <a:tc>
                  <a:txBody>
                    <a:bodyPr/>
                    <a:lstStyle/>
                    <a:p>
                      <a:pPr algn="ctr" fontAlgn="ctr"/>
                      <a:r>
                        <a:rPr lang="en-US" sz="1400" b="1" i="0" u="none" strike="noStrike" dirty="0">
                          <a:solidFill>
                            <a:schemeClr val="bg1"/>
                          </a:solidFill>
                          <a:effectLst/>
                          <a:latin typeface="+mj-lt"/>
                        </a:rPr>
                        <a:t>IJB TC</a:t>
                      </a:r>
                    </a:p>
                  </a:txBody>
                  <a:tcPr marL="9525" marR="9525" marT="9525" marB="0" anchor="ctr"/>
                </a:tc>
                <a:tc>
                  <a:txBody>
                    <a:bodyPr/>
                    <a:lstStyle/>
                    <a:p>
                      <a:pPr algn="ctr" fontAlgn="ctr"/>
                      <a:r>
                        <a:rPr lang="en-US" sz="1400" b="1" i="0" u="none" strike="noStrike" dirty="0">
                          <a:solidFill>
                            <a:schemeClr val="bg1"/>
                          </a:solidFill>
                          <a:effectLst/>
                          <a:latin typeface="+mj-lt"/>
                        </a:rPr>
                        <a:t>TIC TC Channel (Part 1)</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1,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Corresponding TIC TC Channel (Part 2)</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Temperature Delta (Part 2 – Part 1,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Notes</a:t>
                      </a:r>
                    </a:p>
                  </a:txBody>
                  <a:tcPr marL="9525" marR="9525" marT="9525" marB="0" anchor="ctr"/>
                </a:tc>
                <a:extLst>
                  <a:ext uri="{0D108BD9-81ED-4DB2-BD59-A6C34878D82A}">
                    <a16:rowId xmlns:a16="http://schemas.microsoft.com/office/drawing/2014/main" val="3104794286"/>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19.905</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19.931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0.026</a:t>
                      </a:r>
                    </a:p>
                  </a:txBody>
                  <a:tcPr marL="9525" marR="9525" marT="9525" marB="0" anchor="ctr"/>
                </a:tc>
                <a:tc>
                  <a:txBody>
                    <a:bodyPr/>
                    <a:lstStyle/>
                    <a:p>
                      <a:pPr lvl="0" algn="ctr" fontAlgn="ctr"/>
                      <a:r>
                        <a:rPr lang="en-US" sz="1600" b="0" i="0" u="none" strike="noStrike">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129115819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19.841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0.029</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4081047939"/>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19.964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TC12</a:t>
                      </a:r>
                    </a:p>
                  </a:txBody>
                  <a:tcPr marL="9525" marR="9525" marT="9525"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Aptos Narrow" panose="020B0004020202020204" pitchFamily="34" charset="0"/>
                        </a:rPr>
                        <a:t>19.993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0.029</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3824230301"/>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19.837</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19.842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0.005</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1363448347"/>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19.915</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19.939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0.024</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55718667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B0</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20.264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20.254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-0.010</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Spare – Recording ambient temperature. </a:t>
                      </a:r>
                    </a:p>
                  </a:txBody>
                  <a:tcPr marL="9525" marR="9525" marT="9525" marB="0" anchor="ctr"/>
                </a:tc>
                <a:extLst>
                  <a:ext uri="{0D108BD9-81ED-4DB2-BD59-A6C34878D82A}">
                    <a16:rowId xmlns:a16="http://schemas.microsoft.com/office/drawing/2014/main" val="3288867205"/>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19.928</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19.905</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-0.023</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67498730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19.839</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19.807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384799196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19.980</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19.982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555110630"/>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19.993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19.967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-0.026</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143311268"/>
                  </a:ext>
                </a:extLst>
              </a:tr>
            </a:tbl>
          </a:graphicData>
        </a:graphic>
      </p:graphicFrame>
      <p:sp>
        <p:nvSpPr>
          <p:cNvPr id="5" name="TextBox 4">
            <a:extLst>
              <a:ext uri="{FF2B5EF4-FFF2-40B4-BE49-F238E27FC236}">
                <a16:creationId xmlns:a16="http://schemas.microsoft.com/office/drawing/2014/main" id="{E91C00FB-96BD-272C-ABFD-153353EFA944}"/>
              </a:ext>
            </a:extLst>
          </p:cNvPr>
          <p:cNvSpPr txBox="1"/>
          <p:nvPr/>
        </p:nvSpPr>
        <p:spPr>
          <a:xfrm>
            <a:off x="650324" y="6186223"/>
            <a:ext cx="10891345" cy="369332"/>
          </a:xfrm>
          <a:prstGeom prst="rect">
            <a:avLst/>
          </a:prstGeom>
          <a:noFill/>
          <a:ln w="38100">
            <a:solidFill>
              <a:schemeClr val="accent1">
                <a:lumMod val="60000"/>
                <a:lumOff val="40000"/>
              </a:schemeClr>
            </a:solidFill>
          </a:ln>
        </p:spPr>
        <p:txBody>
          <a:bodyPr wrap="square" rtlCol="0">
            <a:spAutoFit/>
          </a:bodyPr>
          <a:lstStyle/>
          <a:p>
            <a:r>
              <a:rPr lang="en-US" dirty="0"/>
              <a:t>Deltas range from </a:t>
            </a:r>
            <a:r>
              <a:rPr lang="en-US" b="1" dirty="0"/>
              <a:t>-0.032°C to +0.029°C</a:t>
            </a:r>
            <a:r>
              <a:rPr lang="en-US" dirty="0"/>
              <a:t>, revealing consistent performance across TICs at room temperature.</a:t>
            </a:r>
          </a:p>
        </p:txBody>
      </p:sp>
    </p:spTree>
    <p:extLst>
      <p:ext uri="{BB962C8B-B14F-4D97-AF65-F5344CB8AC3E}">
        <p14:creationId xmlns:p14="http://schemas.microsoft.com/office/powerpoint/2010/main" val="2186218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50F3-D6E5-31A3-05CE-5D735607D6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3C796-41B9-1C4E-B0EC-75BF4F5BFEB7}"/>
              </a:ext>
            </a:extLst>
          </p:cNvPr>
          <p:cNvSpPr>
            <a:spLocks noGrp="1"/>
          </p:cNvSpPr>
          <p:nvPr>
            <p:ph type="title"/>
          </p:nvPr>
        </p:nvSpPr>
        <p:spPr>
          <a:xfrm>
            <a:off x="838197" y="0"/>
            <a:ext cx="10515600" cy="1325563"/>
          </a:xfrm>
        </p:spPr>
        <p:txBody>
          <a:bodyPr>
            <a:normAutofit/>
          </a:bodyPr>
          <a:lstStyle/>
          <a:p>
            <a:pPr algn="ctr"/>
            <a:r>
              <a:rPr lang="en-US" sz="4000" dirty="0"/>
              <a:t>Table 4: Room Temperature Test 2 Results (Swapped back)</a:t>
            </a:r>
          </a:p>
        </p:txBody>
      </p:sp>
      <p:graphicFrame>
        <p:nvGraphicFramePr>
          <p:cNvPr id="4" name="Content Placeholder 3">
            <a:extLst>
              <a:ext uri="{FF2B5EF4-FFF2-40B4-BE49-F238E27FC236}">
                <a16:creationId xmlns:a16="http://schemas.microsoft.com/office/drawing/2014/main" id="{6ABC2C5B-1B21-8004-DB96-06AA1F4FCF27}"/>
              </a:ext>
            </a:extLst>
          </p:cNvPr>
          <p:cNvGraphicFramePr>
            <a:graphicFrameLocks noGrp="1"/>
          </p:cNvGraphicFramePr>
          <p:nvPr>
            <p:ph idx="1"/>
            <p:extLst>
              <p:ext uri="{D42A27DB-BD31-4B8C-83A1-F6EECF244321}">
                <p14:modId xmlns:p14="http://schemas.microsoft.com/office/powerpoint/2010/main" val="1914060443"/>
              </p:ext>
            </p:extLst>
          </p:nvPr>
        </p:nvGraphicFramePr>
        <p:xfrm>
          <a:off x="838198" y="1356677"/>
          <a:ext cx="10515599" cy="4144645"/>
        </p:xfrm>
        <a:graphic>
          <a:graphicData uri="http://schemas.openxmlformats.org/drawingml/2006/table">
            <a:tbl>
              <a:tblPr firstRow="1" bandRow="1">
                <a:tableStyleId>{5C22544A-7EE6-4342-B048-85BDC9FD1C3A}</a:tableStyleId>
              </a:tblPr>
              <a:tblGrid>
                <a:gridCol w="541564">
                  <a:extLst>
                    <a:ext uri="{9D8B030D-6E8A-4147-A177-3AD203B41FA5}">
                      <a16:colId xmlns:a16="http://schemas.microsoft.com/office/drawing/2014/main" val="2932479768"/>
                    </a:ext>
                  </a:extLst>
                </a:gridCol>
                <a:gridCol w="1257300">
                  <a:extLst>
                    <a:ext uri="{9D8B030D-6E8A-4147-A177-3AD203B41FA5}">
                      <a16:colId xmlns:a16="http://schemas.microsoft.com/office/drawing/2014/main" val="1137581038"/>
                    </a:ext>
                  </a:extLst>
                </a:gridCol>
                <a:gridCol w="1126672">
                  <a:extLst>
                    <a:ext uri="{9D8B030D-6E8A-4147-A177-3AD203B41FA5}">
                      <a16:colId xmlns:a16="http://schemas.microsoft.com/office/drawing/2014/main" val="3818947068"/>
                    </a:ext>
                  </a:extLst>
                </a:gridCol>
                <a:gridCol w="1510393">
                  <a:extLst>
                    <a:ext uri="{9D8B030D-6E8A-4147-A177-3AD203B41FA5}">
                      <a16:colId xmlns:a16="http://schemas.microsoft.com/office/drawing/2014/main" val="873923221"/>
                    </a:ext>
                  </a:extLst>
                </a:gridCol>
                <a:gridCol w="1053192">
                  <a:extLst>
                    <a:ext uri="{9D8B030D-6E8A-4147-A177-3AD203B41FA5}">
                      <a16:colId xmlns:a16="http://schemas.microsoft.com/office/drawing/2014/main" val="2973435756"/>
                    </a:ext>
                  </a:extLst>
                </a:gridCol>
                <a:gridCol w="1468727">
                  <a:extLst>
                    <a:ext uri="{9D8B030D-6E8A-4147-A177-3AD203B41FA5}">
                      <a16:colId xmlns:a16="http://schemas.microsoft.com/office/drawing/2014/main" val="3517002371"/>
                    </a:ext>
                  </a:extLst>
                </a:gridCol>
                <a:gridCol w="3557751">
                  <a:extLst>
                    <a:ext uri="{9D8B030D-6E8A-4147-A177-3AD203B41FA5}">
                      <a16:colId xmlns:a16="http://schemas.microsoft.com/office/drawing/2014/main" val="2705001639"/>
                    </a:ext>
                  </a:extLst>
                </a:gridCol>
              </a:tblGrid>
              <a:tr h="370840">
                <a:tc>
                  <a:txBody>
                    <a:bodyPr/>
                    <a:lstStyle/>
                    <a:p>
                      <a:pPr algn="ctr" fontAlgn="ctr"/>
                      <a:r>
                        <a:rPr lang="en-US" sz="1400" b="1" i="0" u="none" strike="noStrike" dirty="0">
                          <a:solidFill>
                            <a:schemeClr val="bg1"/>
                          </a:solidFill>
                          <a:effectLst/>
                          <a:latin typeface="+mj-lt"/>
                        </a:rPr>
                        <a:t>IJB TC</a:t>
                      </a:r>
                    </a:p>
                  </a:txBody>
                  <a:tcPr marL="9525" marR="9525" marT="9525" marB="0" anchor="ctr"/>
                </a:tc>
                <a:tc>
                  <a:txBody>
                    <a:bodyPr/>
                    <a:lstStyle/>
                    <a:p>
                      <a:pPr algn="ctr" fontAlgn="ctr"/>
                      <a:r>
                        <a:rPr lang="en-US" sz="1400" b="1" i="0" u="none" strike="noStrike" dirty="0">
                          <a:solidFill>
                            <a:schemeClr val="bg1"/>
                          </a:solidFill>
                          <a:effectLst/>
                          <a:latin typeface="+mj-lt"/>
                        </a:rPr>
                        <a:t>TIC TC Channel (Part 2)</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Corresponding TIC TC Channel (Part 3)</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3,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Temperature Delta (Part 3 –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Notes</a:t>
                      </a:r>
                    </a:p>
                  </a:txBody>
                  <a:tcPr marL="9525" marR="9525" marT="9525" marB="0" anchor="ctr"/>
                </a:tc>
                <a:extLst>
                  <a:ext uri="{0D108BD9-81ED-4DB2-BD59-A6C34878D82A}">
                    <a16:rowId xmlns:a16="http://schemas.microsoft.com/office/drawing/2014/main" val="3104794286"/>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19.891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-0.021</a:t>
                      </a:r>
                    </a:p>
                  </a:txBody>
                  <a:tcPr marL="9525" marR="9525" marT="9525" marB="0" anchor="ctr"/>
                </a:tc>
                <a:tc>
                  <a:txBody>
                    <a:bodyPr/>
                    <a:lstStyle/>
                    <a:p>
                      <a:pPr lvl="0" algn="ctr" fontAlgn="ctr"/>
                      <a:r>
                        <a:rPr lang="en-US" sz="1600" b="0" i="0" u="none" strike="noStrike">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129115819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19.838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19.809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-0.029</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4081047939"/>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20.024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19.992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3824230301"/>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19.842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19.835</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1363448347"/>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19.927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19.896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55718667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20.447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20.489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0.042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Spare – Recording ambient temperature. </a:t>
                      </a:r>
                    </a:p>
                  </a:txBody>
                  <a:tcPr marL="9525" marR="9525" marT="9525" marB="0" anchor="ctr"/>
                </a:tc>
                <a:extLst>
                  <a:ext uri="{0D108BD9-81ED-4DB2-BD59-A6C34878D82A}">
                    <a16:rowId xmlns:a16="http://schemas.microsoft.com/office/drawing/2014/main" val="3288867205"/>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19.881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67498730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19.836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384799196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20.001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20.011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0.010</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555110630"/>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19.990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20.026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0.036</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143311268"/>
                  </a:ext>
                </a:extLst>
              </a:tr>
            </a:tbl>
          </a:graphicData>
        </a:graphic>
      </p:graphicFrame>
      <p:sp>
        <p:nvSpPr>
          <p:cNvPr id="5" name="TextBox 4">
            <a:extLst>
              <a:ext uri="{FF2B5EF4-FFF2-40B4-BE49-F238E27FC236}">
                <a16:creationId xmlns:a16="http://schemas.microsoft.com/office/drawing/2014/main" id="{90B47BD0-0B1A-37D4-E03B-9616139EB4E5}"/>
              </a:ext>
            </a:extLst>
          </p:cNvPr>
          <p:cNvSpPr txBox="1"/>
          <p:nvPr/>
        </p:nvSpPr>
        <p:spPr>
          <a:xfrm>
            <a:off x="1874559" y="6123543"/>
            <a:ext cx="8442876" cy="369332"/>
          </a:xfrm>
          <a:prstGeom prst="rect">
            <a:avLst/>
          </a:prstGeom>
          <a:noFill/>
          <a:ln w="38100">
            <a:solidFill>
              <a:schemeClr val="accent1">
                <a:lumMod val="60000"/>
                <a:lumOff val="40000"/>
              </a:schemeClr>
            </a:solidFill>
          </a:ln>
        </p:spPr>
        <p:txBody>
          <a:bodyPr wrap="square" rtlCol="0">
            <a:spAutoFit/>
          </a:bodyPr>
          <a:lstStyle/>
          <a:p>
            <a:r>
              <a:rPr lang="en-US" dirty="0"/>
              <a:t>Deltas range from </a:t>
            </a:r>
            <a:r>
              <a:rPr lang="en-US" b="1" dirty="0"/>
              <a:t>-0.032°C to +0.042°C</a:t>
            </a:r>
            <a:r>
              <a:rPr lang="en-US" dirty="0"/>
              <a:t>, larger magnitude deltas but still negligible.</a:t>
            </a:r>
          </a:p>
        </p:txBody>
      </p:sp>
    </p:spTree>
    <p:extLst>
      <p:ext uri="{BB962C8B-B14F-4D97-AF65-F5344CB8AC3E}">
        <p14:creationId xmlns:p14="http://schemas.microsoft.com/office/powerpoint/2010/main" val="3375779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BDE4A-28E6-8317-E4A3-7E27769A4475}"/>
              </a:ext>
            </a:extLst>
          </p:cNvPr>
          <p:cNvSpPr>
            <a:spLocks noGrp="1"/>
          </p:cNvSpPr>
          <p:nvPr>
            <p:ph type="title"/>
          </p:nvPr>
        </p:nvSpPr>
        <p:spPr>
          <a:xfrm>
            <a:off x="838200" y="0"/>
            <a:ext cx="10515600" cy="1325563"/>
          </a:xfrm>
        </p:spPr>
        <p:txBody>
          <a:bodyPr/>
          <a:lstStyle/>
          <a:p>
            <a:r>
              <a:rPr lang="en-US" dirty="0"/>
              <a:t>Analysis of Temperature Deltas</a:t>
            </a:r>
          </a:p>
        </p:txBody>
      </p:sp>
      <p:sp>
        <p:nvSpPr>
          <p:cNvPr id="3" name="Content Placeholder 2">
            <a:extLst>
              <a:ext uri="{FF2B5EF4-FFF2-40B4-BE49-F238E27FC236}">
                <a16:creationId xmlns:a16="http://schemas.microsoft.com/office/drawing/2014/main" id="{226D83CC-7BFE-409B-642D-D2D560218099}"/>
              </a:ext>
            </a:extLst>
          </p:cNvPr>
          <p:cNvSpPr>
            <a:spLocks noGrp="1"/>
          </p:cNvSpPr>
          <p:nvPr>
            <p:ph idx="1"/>
          </p:nvPr>
        </p:nvSpPr>
        <p:spPr>
          <a:xfrm>
            <a:off x="838200" y="1325563"/>
            <a:ext cx="10515600" cy="5167312"/>
          </a:xfrm>
        </p:spPr>
        <p:txBody>
          <a:bodyPr>
            <a:normAutofit/>
          </a:bodyPr>
          <a:lstStyle/>
          <a:p>
            <a:pPr marL="0" indent="0">
              <a:buNone/>
            </a:pPr>
            <a:r>
              <a:rPr lang="en-US" b="1" dirty="0"/>
              <a:t>Delta Observations</a:t>
            </a:r>
            <a:r>
              <a:rPr lang="en-US" dirty="0"/>
              <a:t>:</a:t>
            </a:r>
          </a:p>
          <a:p>
            <a:pPr lvl="1"/>
            <a:r>
              <a:rPr lang="en-US" dirty="0"/>
              <a:t>Deltas range from </a:t>
            </a:r>
            <a:r>
              <a:rPr lang="en-US" b="1" dirty="0"/>
              <a:t>-0.037 °C to +0.058 °C</a:t>
            </a:r>
            <a:r>
              <a:rPr lang="en-US" dirty="0"/>
              <a:t>.</a:t>
            </a:r>
          </a:p>
          <a:p>
            <a:pPr lvl="1"/>
            <a:r>
              <a:rPr lang="en-US" b="1" dirty="0"/>
              <a:t>Positive vs. Negative Deltas</a:t>
            </a:r>
            <a:r>
              <a:rPr lang="en-US" dirty="0"/>
              <a:t>: Magnitude of positive and negative deltas should ideally be similar if no systematic offset exists.</a:t>
            </a:r>
          </a:p>
          <a:p>
            <a:pPr lvl="2"/>
            <a:r>
              <a:rPr lang="en-US" dirty="0"/>
              <a:t>Example:</a:t>
            </a:r>
          </a:p>
          <a:p>
            <a:pPr marL="1657350" lvl="3" indent="-285750"/>
            <a:r>
              <a:rPr lang="en-US" b="1" dirty="0"/>
              <a:t>A0 (TC00 to TC10)</a:t>
            </a:r>
            <a:r>
              <a:rPr lang="en-US" dirty="0"/>
              <a:t>: </a:t>
            </a:r>
            <a:r>
              <a:rPr lang="en-US" b="1" dirty="0"/>
              <a:t>+0.025°C</a:t>
            </a:r>
            <a:endParaRPr lang="en-US" dirty="0"/>
          </a:p>
          <a:p>
            <a:pPr marL="1657350" lvl="3" indent="-285750"/>
            <a:r>
              <a:rPr lang="en-US" b="1" dirty="0"/>
              <a:t>B0 (TC10 to TC00)</a:t>
            </a:r>
            <a:r>
              <a:rPr lang="en-US" dirty="0"/>
              <a:t>: </a:t>
            </a:r>
            <a:r>
              <a:rPr lang="en-US" b="1" dirty="0"/>
              <a:t>-0.017°C</a:t>
            </a:r>
            <a:endParaRPr lang="en-US" dirty="0"/>
          </a:p>
          <a:p>
            <a:pPr lvl="2"/>
            <a:r>
              <a:rPr lang="en-US" dirty="0"/>
              <a:t>Differences in magnitude indicate possible TIC-specific variations.</a:t>
            </a:r>
          </a:p>
          <a:p>
            <a:pPr marL="0" indent="0">
              <a:buNone/>
            </a:pPr>
            <a:r>
              <a:rPr lang="en-US" b="1" dirty="0"/>
              <a:t>Potential Causes</a:t>
            </a:r>
            <a:r>
              <a:rPr lang="en-US" dirty="0"/>
              <a:t>:</a:t>
            </a:r>
          </a:p>
          <a:p>
            <a:pPr lvl="1"/>
            <a:r>
              <a:rPr lang="en-US" b="1" dirty="0"/>
              <a:t>Reference Voltage Differences</a:t>
            </a:r>
            <a:r>
              <a:rPr lang="en-US" dirty="0"/>
              <a:t>: Variations in TIC reference voltages likely contribute to the observed differences.</a:t>
            </a:r>
          </a:p>
          <a:p>
            <a:pPr lvl="1"/>
            <a:r>
              <a:rPr lang="en-US" b="1" dirty="0"/>
              <a:t>Environmental Factors</a:t>
            </a:r>
            <a:r>
              <a:rPr lang="en-US" dirty="0"/>
              <a:t>: Minor environmental noise or connection variability might also impact deltas.</a:t>
            </a:r>
          </a:p>
          <a:p>
            <a:endParaRPr lang="en-US" dirty="0"/>
          </a:p>
        </p:txBody>
      </p:sp>
    </p:spTree>
    <p:extLst>
      <p:ext uri="{BB962C8B-B14F-4D97-AF65-F5344CB8AC3E}">
        <p14:creationId xmlns:p14="http://schemas.microsoft.com/office/powerpoint/2010/main" val="4054348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86BDF2-040A-0B5F-14C7-C85E1C7D1B28}"/>
              </a:ext>
            </a:extLst>
          </p:cNvPr>
          <p:cNvSpPr>
            <a:spLocks noGrp="1"/>
          </p:cNvSpPr>
          <p:nvPr>
            <p:ph idx="1"/>
          </p:nvPr>
        </p:nvSpPr>
        <p:spPr>
          <a:xfrm>
            <a:off x="838199" y="1343818"/>
            <a:ext cx="10788870" cy="5361782"/>
          </a:xfrm>
        </p:spPr>
        <p:txBody>
          <a:bodyPr>
            <a:normAutofit lnSpcReduction="10000"/>
          </a:bodyPr>
          <a:lstStyle/>
          <a:p>
            <a:r>
              <a:rPr lang="en-US" dirty="0"/>
              <a:t>Differences between positive and negative deltas suggest very slight offsets between TICs (in the range of hundredths of °C).</a:t>
            </a:r>
          </a:p>
          <a:p>
            <a:pPr lvl="1"/>
            <a:r>
              <a:rPr lang="en-US" dirty="0"/>
              <a:t>Variability across TICs is likely due to reference voltage discrepancies.</a:t>
            </a:r>
          </a:p>
          <a:p>
            <a:r>
              <a:rPr lang="en-US" dirty="0"/>
              <a:t>Repeatability testing after 24 hours showed similar delta ranges, indicating good stability over time.</a:t>
            </a:r>
          </a:p>
          <a:p>
            <a:r>
              <a:rPr lang="en-US" dirty="0"/>
              <a:t>High accuracy with minimal drift was observed, although slight adjustments in reference voltage could improve consistency further.</a:t>
            </a:r>
          </a:p>
          <a:p>
            <a:r>
              <a:rPr lang="en-US" dirty="0"/>
              <a:t>Swapping thermocouples back (comparing Tables 1 and 2, as well as Tables 3 and 4) resulted in consistent temperature deltas, indicating no significant drift in TIC performance.</a:t>
            </a:r>
          </a:p>
          <a:p>
            <a:pPr lvl="1"/>
            <a:r>
              <a:rPr lang="en-US" dirty="0"/>
              <a:t>Repeatability across swaps suggests stable TIC operation.</a:t>
            </a:r>
          </a:p>
          <a:p>
            <a:pPr lvl="1"/>
            <a:r>
              <a:rPr lang="en-US" dirty="0"/>
              <a:t>Calibration focused on reducing minor reference voltage discrepancies will be implemented and is likely to improve overall consistency.</a:t>
            </a:r>
          </a:p>
        </p:txBody>
      </p:sp>
      <p:sp>
        <p:nvSpPr>
          <p:cNvPr id="2" name="Title 1">
            <a:extLst>
              <a:ext uri="{FF2B5EF4-FFF2-40B4-BE49-F238E27FC236}">
                <a16:creationId xmlns:a16="http://schemas.microsoft.com/office/drawing/2014/main" id="{C37C2AD5-00E0-666D-59D5-B3CCD15EF13D}"/>
              </a:ext>
            </a:extLst>
          </p:cNvPr>
          <p:cNvSpPr>
            <a:spLocks noGrp="1"/>
          </p:cNvSpPr>
          <p:nvPr>
            <p:ph type="title"/>
          </p:nvPr>
        </p:nvSpPr>
        <p:spPr>
          <a:xfrm>
            <a:off x="838199" y="18255"/>
            <a:ext cx="10515600" cy="1325563"/>
          </a:xfrm>
        </p:spPr>
        <p:txBody>
          <a:bodyPr/>
          <a:lstStyle/>
          <a:p>
            <a:r>
              <a:rPr lang="en-US" dirty="0"/>
              <a:t>Results at Room Temperature</a:t>
            </a:r>
          </a:p>
        </p:txBody>
      </p:sp>
    </p:spTree>
    <p:extLst>
      <p:ext uri="{BB962C8B-B14F-4D97-AF65-F5344CB8AC3E}">
        <p14:creationId xmlns:p14="http://schemas.microsoft.com/office/powerpoint/2010/main" val="614371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B503-6318-5A1E-6B11-3A2DA67225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AF181B-A38D-18B4-CD0D-08D8638E3AB9}"/>
              </a:ext>
            </a:extLst>
          </p:cNvPr>
          <p:cNvSpPr>
            <a:spLocks noGrp="1"/>
          </p:cNvSpPr>
          <p:nvPr>
            <p:ph idx="1"/>
          </p:nvPr>
        </p:nvSpPr>
        <p:spPr>
          <a:xfrm>
            <a:off x="838200" y="1325563"/>
            <a:ext cx="10788870" cy="4930775"/>
          </a:xfrm>
        </p:spPr>
        <p:txBody>
          <a:bodyPr>
            <a:normAutofit/>
          </a:bodyPr>
          <a:lstStyle/>
          <a:p>
            <a:r>
              <a:rPr lang="en-US" b="1" dirty="0"/>
              <a:t>Comparison with Legacy Thermocouples: </a:t>
            </a:r>
            <a:r>
              <a:rPr lang="en-US" dirty="0"/>
              <a:t>The average delta temperatures between the new TCs and the legacy TCs in each bundle showed slight differences, suggesting good agreement overall.</a:t>
            </a:r>
          </a:p>
          <a:p>
            <a:pPr lvl="1"/>
            <a:r>
              <a:rPr lang="en-US" sz="2200" dirty="0"/>
              <a:t>**Test 1 </a:t>
            </a:r>
            <a:r>
              <a:rPr lang="el-GR" sz="2200" b="0" i="0" dirty="0">
                <a:effectLst/>
              </a:rPr>
              <a:t>Δ</a:t>
            </a:r>
            <a:r>
              <a:rPr lang="en-US" sz="2200" b="0" i="0" dirty="0">
                <a:effectLst/>
              </a:rPr>
              <a:t>T </a:t>
            </a:r>
            <a:r>
              <a:rPr lang="en-US" sz="2200" b="0" i="0" baseline="-25000" dirty="0">
                <a:effectLst/>
              </a:rPr>
              <a:t>New – Legacy</a:t>
            </a:r>
            <a:r>
              <a:rPr lang="en-US" sz="2200" b="0" i="0" dirty="0">
                <a:effectLst/>
              </a:rPr>
              <a:t> </a:t>
            </a:r>
            <a:r>
              <a:rPr lang="en-US" sz="2200" dirty="0"/>
              <a:t>**: Bundle 1: 0.37°C, Bundle 2: 0.25°C, Bundle 3: 0.31°C.</a:t>
            </a:r>
          </a:p>
          <a:p>
            <a:pPr lvl="1"/>
            <a:r>
              <a:rPr lang="en-US" sz="2200" dirty="0"/>
              <a:t>**Test 2 </a:t>
            </a:r>
            <a:r>
              <a:rPr lang="el-GR" sz="2200" b="0" i="0" dirty="0">
                <a:effectLst/>
              </a:rPr>
              <a:t>Δ</a:t>
            </a:r>
            <a:r>
              <a:rPr lang="en-US" sz="2200" b="0" i="0" dirty="0">
                <a:effectLst/>
              </a:rPr>
              <a:t>T </a:t>
            </a:r>
            <a:r>
              <a:rPr lang="en-US" sz="2200" b="0" i="0" baseline="-25000" dirty="0">
                <a:effectLst/>
              </a:rPr>
              <a:t>New – Legacy</a:t>
            </a:r>
            <a:r>
              <a:rPr lang="en-US" sz="2200" b="0" i="0" dirty="0">
                <a:effectLst/>
              </a:rPr>
              <a:t> </a:t>
            </a:r>
            <a:r>
              <a:rPr lang="en-US" sz="2200" dirty="0"/>
              <a:t>**: Bundle 1: 0.35°C, Bundle 2: 0.29°C, Bundle 3: 0.36°C.</a:t>
            </a:r>
          </a:p>
          <a:p>
            <a:r>
              <a:rPr lang="en-US" dirty="0"/>
              <a:t>The consistency between Test 1 and Test 2 deltas indicates stable performance of the new TCs relative to the legacy TCs, with minimal drift over time. This further supports the reliability of the new TCs, although the slight differences suggest that minor calibration may still be beneficial to bring all readings into closer alignment.</a:t>
            </a:r>
          </a:p>
        </p:txBody>
      </p:sp>
      <p:sp>
        <p:nvSpPr>
          <p:cNvPr id="2" name="Title 1">
            <a:extLst>
              <a:ext uri="{FF2B5EF4-FFF2-40B4-BE49-F238E27FC236}">
                <a16:creationId xmlns:a16="http://schemas.microsoft.com/office/drawing/2014/main" id="{6B65135D-0C3D-7F4C-4195-7114FB8BD212}"/>
              </a:ext>
            </a:extLst>
          </p:cNvPr>
          <p:cNvSpPr>
            <a:spLocks noGrp="1"/>
          </p:cNvSpPr>
          <p:nvPr>
            <p:ph type="title"/>
          </p:nvPr>
        </p:nvSpPr>
        <p:spPr>
          <a:xfrm>
            <a:off x="838200" y="0"/>
            <a:ext cx="10515600" cy="1325563"/>
          </a:xfrm>
        </p:spPr>
        <p:txBody>
          <a:bodyPr/>
          <a:lstStyle/>
          <a:p>
            <a:r>
              <a:rPr lang="en-US" dirty="0"/>
              <a:t>Results at Room Temperature cont.</a:t>
            </a:r>
          </a:p>
        </p:txBody>
      </p:sp>
    </p:spTree>
    <p:extLst>
      <p:ext uri="{BB962C8B-B14F-4D97-AF65-F5344CB8AC3E}">
        <p14:creationId xmlns:p14="http://schemas.microsoft.com/office/powerpoint/2010/main" val="1928672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B150-B798-D963-9AFC-8E88BCB6D315}"/>
              </a:ext>
            </a:extLst>
          </p:cNvPr>
          <p:cNvSpPr>
            <a:spLocks noGrp="1"/>
          </p:cNvSpPr>
          <p:nvPr>
            <p:ph type="title"/>
          </p:nvPr>
        </p:nvSpPr>
        <p:spPr>
          <a:xfrm>
            <a:off x="838200" y="0"/>
            <a:ext cx="10515600" cy="1325563"/>
          </a:xfrm>
        </p:spPr>
        <p:txBody>
          <a:bodyPr/>
          <a:lstStyle/>
          <a:p>
            <a:r>
              <a:rPr lang="en-US" dirty="0"/>
              <a:t>Next Steps</a:t>
            </a:r>
          </a:p>
        </p:txBody>
      </p:sp>
      <p:sp>
        <p:nvSpPr>
          <p:cNvPr id="3" name="Content Placeholder 2">
            <a:extLst>
              <a:ext uri="{FF2B5EF4-FFF2-40B4-BE49-F238E27FC236}">
                <a16:creationId xmlns:a16="http://schemas.microsoft.com/office/drawing/2014/main" id="{510C3DBB-766D-8C6B-14D6-094AABE66FC2}"/>
              </a:ext>
            </a:extLst>
          </p:cNvPr>
          <p:cNvSpPr>
            <a:spLocks noGrp="1"/>
          </p:cNvSpPr>
          <p:nvPr>
            <p:ph idx="1"/>
          </p:nvPr>
        </p:nvSpPr>
        <p:spPr>
          <a:xfrm>
            <a:off x="838200" y="1325563"/>
            <a:ext cx="10515600" cy="5396970"/>
          </a:xfrm>
        </p:spPr>
        <p:txBody>
          <a:bodyPr>
            <a:normAutofit fontScale="85000" lnSpcReduction="20000"/>
          </a:bodyPr>
          <a:lstStyle/>
          <a:p>
            <a:r>
              <a:rPr lang="en-US" dirty="0"/>
              <a:t>Repeat test at high temp (around 1000</a:t>
            </a:r>
            <a:r>
              <a:rPr lang="en-US" b="1" dirty="0"/>
              <a:t> </a:t>
            </a:r>
            <a:r>
              <a:rPr lang="en-US" dirty="0"/>
              <a:t>°C, TBD) </a:t>
            </a:r>
          </a:p>
          <a:p>
            <a:pPr lvl="1"/>
            <a:r>
              <a:rPr lang="en-US" b="1" dirty="0"/>
              <a:t>Scheduled for 11 Dec 24</a:t>
            </a:r>
          </a:p>
          <a:p>
            <a:endParaRPr lang="en-US" b="1" dirty="0"/>
          </a:p>
          <a:p>
            <a:r>
              <a:rPr lang="en-US" dirty="0"/>
              <a:t>Repeat test with TIP chassis in environmental chamber to assess TIC performance in varying ambient temperatures (20 – 40 °C).</a:t>
            </a:r>
          </a:p>
          <a:p>
            <a:pPr lvl="1"/>
            <a:r>
              <a:rPr lang="en-US" dirty="0"/>
              <a:t>Date TBD.</a:t>
            </a:r>
          </a:p>
          <a:p>
            <a:pPr marL="0" indent="0">
              <a:buNone/>
            </a:pPr>
            <a:endParaRPr lang="en-US" dirty="0"/>
          </a:p>
          <a:p>
            <a:r>
              <a:rPr lang="en-US" dirty="0"/>
              <a:t>Determine ‘absolute’ accuracy of both systems against a calibrated reference. Which is closer to true temp?</a:t>
            </a:r>
          </a:p>
          <a:p>
            <a:pPr lvl="1"/>
            <a:r>
              <a:rPr lang="en-US" dirty="0"/>
              <a:t>Date and Method TBD.</a:t>
            </a:r>
          </a:p>
          <a:p>
            <a:pPr lvl="2"/>
            <a:r>
              <a:rPr lang="en-US" dirty="0"/>
              <a:t>Sand bath? Environmental chamber?</a:t>
            </a:r>
          </a:p>
          <a:p>
            <a:endParaRPr lang="en-US" dirty="0"/>
          </a:p>
          <a:p>
            <a:r>
              <a:rPr lang="en-US" dirty="0"/>
              <a:t>Calibrate TIC reference voltages and repeat tests. </a:t>
            </a:r>
          </a:p>
          <a:p>
            <a:pPr lvl="1"/>
            <a:r>
              <a:rPr lang="en-US" dirty="0"/>
              <a:t>Calibration routine not yet developed. </a:t>
            </a:r>
          </a:p>
          <a:p>
            <a:pPr lvl="1"/>
            <a:r>
              <a:rPr lang="en-US" dirty="0"/>
              <a:t>Could hard-code TIC specific reference voltage values into CCHM.</a:t>
            </a:r>
          </a:p>
          <a:p>
            <a:pPr lvl="2"/>
            <a:r>
              <a:rPr lang="en-US" dirty="0"/>
              <a:t>This would require careful tracking of system configuration during tests. </a:t>
            </a:r>
          </a:p>
          <a:p>
            <a:pPr lvl="1"/>
            <a:r>
              <a:rPr lang="en-US" dirty="0"/>
              <a:t>Date TBD.</a:t>
            </a:r>
          </a:p>
        </p:txBody>
      </p:sp>
    </p:spTree>
    <p:extLst>
      <p:ext uri="{BB962C8B-B14F-4D97-AF65-F5344CB8AC3E}">
        <p14:creationId xmlns:p14="http://schemas.microsoft.com/office/powerpoint/2010/main" val="3107337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68510-25BF-7D7F-C984-667BAE3DE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A4307-5C65-7798-0CEB-AE171C19A32C}"/>
              </a:ext>
            </a:extLst>
          </p:cNvPr>
          <p:cNvSpPr>
            <a:spLocks noGrp="1"/>
          </p:cNvSpPr>
          <p:nvPr>
            <p:ph type="title"/>
          </p:nvPr>
        </p:nvSpPr>
        <p:spPr>
          <a:xfrm>
            <a:off x="838196" y="14235"/>
            <a:ext cx="10515600" cy="1325563"/>
          </a:xfrm>
        </p:spPr>
        <p:txBody>
          <a:bodyPr/>
          <a:lstStyle/>
          <a:p>
            <a:pPr algn="ctr"/>
            <a:r>
              <a:rPr lang="en-US" dirty="0"/>
              <a:t>Table 5: Goal Temp = 1180 C Results</a:t>
            </a:r>
          </a:p>
        </p:txBody>
      </p:sp>
      <p:graphicFrame>
        <p:nvGraphicFramePr>
          <p:cNvPr id="4" name="Content Placeholder 3">
            <a:extLst>
              <a:ext uri="{FF2B5EF4-FFF2-40B4-BE49-F238E27FC236}">
                <a16:creationId xmlns:a16="http://schemas.microsoft.com/office/drawing/2014/main" id="{FDB924E1-3E94-C031-B7E0-CCA4DA1E4A2F}"/>
              </a:ext>
            </a:extLst>
          </p:cNvPr>
          <p:cNvGraphicFramePr>
            <a:graphicFrameLocks noGrp="1"/>
          </p:cNvGraphicFramePr>
          <p:nvPr>
            <p:ph idx="1"/>
            <p:extLst>
              <p:ext uri="{D42A27DB-BD31-4B8C-83A1-F6EECF244321}">
                <p14:modId xmlns:p14="http://schemas.microsoft.com/office/powerpoint/2010/main" val="1828002765"/>
              </p:ext>
            </p:extLst>
          </p:nvPr>
        </p:nvGraphicFramePr>
        <p:xfrm>
          <a:off x="838196" y="1356677"/>
          <a:ext cx="10515599" cy="4144645"/>
        </p:xfrm>
        <a:graphic>
          <a:graphicData uri="http://schemas.openxmlformats.org/drawingml/2006/table">
            <a:tbl>
              <a:tblPr firstRow="1" bandRow="1">
                <a:tableStyleId>{5C22544A-7EE6-4342-B048-85BDC9FD1C3A}</a:tableStyleId>
              </a:tblPr>
              <a:tblGrid>
                <a:gridCol w="541564">
                  <a:extLst>
                    <a:ext uri="{9D8B030D-6E8A-4147-A177-3AD203B41FA5}">
                      <a16:colId xmlns:a16="http://schemas.microsoft.com/office/drawing/2014/main" val="2932479768"/>
                    </a:ext>
                  </a:extLst>
                </a:gridCol>
                <a:gridCol w="1257300">
                  <a:extLst>
                    <a:ext uri="{9D8B030D-6E8A-4147-A177-3AD203B41FA5}">
                      <a16:colId xmlns:a16="http://schemas.microsoft.com/office/drawing/2014/main" val="1137581038"/>
                    </a:ext>
                  </a:extLst>
                </a:gridCol>
                <a:gridCol w="1126672">
                  <a:extLst>
                    <a:ext uri="{9D8B030D-6E8A-4147-A177-3AD203B41FA5}">
                      <a16:colId xmlns:a16="http://schemas.microsoft.com/office/drawing/2014/main" val="3818947068"/>
                    </a:ext>
                  </a:extLst>
                </a:gridCol>
                <a:gridCol w="1510393">
                  <a:extLst>
                    <a:ext uri="{9D8B030D-6E8A-4147-A177-3AD203B41FA5}">
                      <a16:colId xmlns:a16="http://schemas.microsoft.com/office/drawing/2014/main" val="873923221"/>
                    </a:ext>
                  </a:extLst>
                </a:gridCol>
                <a:gridCol w="1053192">
                  <a:extLst>
                    <a:ext uri="{9D8B030D-6E8A-4147-A177-3AD203B41FA5}">
                      <a16:colId xmlns:a16="http://schemas.microsoft.com/office/drawing/2014/main" val="2973435756"/>
                    </a:ext>
                  </a:extLst>
                </a:gridCol>
                <a:gridCol w="1468727">
                  <a:extLst>
                    <a:ext uri="{9D8B030D-6E8A-4147-A177-3AD203B41FA5}">
                      <a16:colId xmlns:a16="http://schemas.microsoft.com/office/drawing/2014/main" val="3517002371"/>
                    </a:ext>
                  </a:extLst>
                </a:gridCol>
                <a:gridCol w="3557751">
                  <a:extLst>
                    <a:ext uri="{9D8B030D-6E8A-4147-A177-3AD203B41FA5}">
                      <a16:colId xmlns:a16="http://schemas.microsoft.com/office/drawing/2014/main" val="2705001639"/>
                    </a:ext>
                  </a:extLst>
                </a:gridCol>
              </a:tblGrid>
              <a:tr h="370840">
                <a:tc>
                  <a:txBody>
                    <a:bodyPr/>
                    <a:lstStyle/>
                    <a:p>
                      <a:pPr algn="ctr" fontAlgn="ctr"/>
                      <a:r>
                        <a:rPr lang="en-US" sz="1400" b="1" i="0" u="none" strike="noStrike" dirty="0">
                          <a:solidFill>
                            <a:schemeClr val="bg1"/>
                          </a:solidFill>
                          <a:effectLst/>
                          <a:latin typeface="+mj-lt"/>
                        </a:rPr>
                        <a:t>IJB TC</a:t>
                      </a:r>
                    </a:p>
                  </a:txBody>
                  <a:tcPr marL="9525" marR="9525" marT="9525" marB="0" anchor="ctr"/>
                </a:tc>
                <a:tc>
                  <a:txBody>
                    <a:bodyPr/>
                    <a:lstStyle/>
                    <a:p>
                      <a:pPr algn="ctr" fontAlgn="ctr"/>
                      <a:r>
                        <a:rPr lang="en-US" sz="1400" b="1" i="0" u="none" strike="noStrike" dirty="0">
                          <a:solidFill>
                            <a:schemeClr val="bg1"/>
                          </a:solidFill>
                          <a:effectLst/>
                          <a:latin typeface="+mj-lt"/>
                        </a:rPr>
                        <a:t>TIC TC Channel (Part 1)</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1,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Corresponding TIC TC Channel (Part 2)</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Temperature Delta (Part 2 – Part 1,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Notes</a:t>
                      </a:r>
                    </a:p>
                  </a:txBody>
                  <a:tcPr marL="9525" marR="9525" marT="9525" marB="0" anchor="ctr"/>
                </a:tc>
                <a:extLst>
                  <a:ext uri="{0D108BD9-81ED-4DB2-BD59-A6C34878D82A}">
                    <a16:rowId xmlns:a16="http://schemas.microsoft.com/office/drawing/2014/main" val="3104794286"/>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1155.22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1155.36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0.14</a:t>
                      </a:r>
                    </a:p>
                  </a:txBody>
                  <a:tcPr marL="9525" marR="9525" marT="9525" marB="0" anchor="ctr"/>
                </a:tc>
                <a:tc>
                  <a:txBody>
                    <a:bodyPr/>
                    <a:lstStyle/>
                    <a:p>
                      <a:pPr lvl="0" algn="ctr" fontAlgn="ctr"/>
                      <a:r>
                        <a:rPr lang="en-US" sz="1600" b="0" i="0" u="none" strike="noStrike">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129115819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1171.59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1171.64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0.05</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4081047939"/>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1167.89</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1167.76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-0.13</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3824230301"/>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1170.15</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1170.11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-0.04</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1363448347"/>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A4</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1151.52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1151.52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0.00</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55718667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B0</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21.47</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21.51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0.04</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Spare – Recording ambient temperature. </a:t>
                      </a:r>
                    </a:p>
                  </a:txBody>
                  <a:tcPr marL="9525" marR="9525" marT="9525" marB="0" anchor="ctr"/>
                </a:tc>
                <a:extLst>
                  <a:ext uri="{0D108BD9-81ED-4DB2-BD59-A6C34878D82A}">
                    <a16:rowId xmlns:a16="http://schemas.microsoft.com/office/drawing/2014/main" val="3288867205"/>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B1</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1152.23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1152.17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-0.06</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67498730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B2</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1173.45</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1173.38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384799196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1167.63</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1167.56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555110630"/>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1169.45</a:t>
                      </a:r>
                    </a:p>
                  </a:txBody>
                  <a:tcPr marL="9525" marR="9525" marT="9525" marB="0" anchor="ctr"/>
                </a:tc>
                <a:tc>
                  <a:txBody>
                    <a:bodyPr/>
                    <a:lstStyle/>
                    <a:p>
                      <a:pPr lvl="0" algn="ctr" fontAlgn="b"/>
                      <a:r>
                        <a:rPr lang="en-US" sz="1600" b="0" i="0" u="none" strike="noStrike">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1169.33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-0.16</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143311268"/>
                  </a:ext>
                </a:extLst>
              </a:tr>
            </a:tbl>
          </a:graphicData>
        </a:graphic>
      </p:graphicFrame>
      <p:sp>
        <p:nvSpPr>
          <p:cNvPr id="5" name="TextBox 4">
            <a:extLst>
              <a:ext uri="{FF2B5EF4-FFF2-40B4-BE49-F238E27FC236}">
                <a16:creationId xmlns:a16="http://schemas.microsoft.com/office/drawing/2014/main" id="{AAD664B6-8A56-01D7-C616-05CA5C8488F5}"/>
              </a:ext>
            </a:extLst>
          </p:cNvPr>
          <p:cNvSpPr txBox="1"/>
          <p:nvPr/>
        </p:nvSpPr>
        <p:spPr>
          <a:xfrm>
            <a:off x="650324" y="6186223"/>
            <a:ext cx="10891345" cy="369332"/>
          </a:xfrm>
          <a:prstGeom prst="rect">
            <a:avLst/>
          </a:prstGeom>
          <a:noFill/>
          <a:ln w="38100">
            <a:solidFill>
              <a:schemeClr val="accent1">
                <a:lumMod val="60000"/>
                <a:lumOff val="40000"/>
              </a:schemeClr>
            </a:solidFill>
          </a:ln>
        </p:spPr>
        <p:txBody>
          <a:bodyPr wrap="square" rtlCol="0">
            <a:spAutoFit/>
          </a:bodyPr>
          <a:lstStyle/>
          <a:p>
            <a:r>
              <a:rPr lang="en-US" dirty="0"/>
              <a:t>Deltas range from </a:t>
            </a:r>
            <a:r>
              <a:rPr lang="en-US" b="1" dirty="0"/>
              <a:t>-0.16°C to +0.14°C</a:t>
            </a:r>
            <a:r>
              <a:rPr lang="en-US" dirty="0"/>
              <a:t>, revealing consistent performance across TICs at room temperature.</a:t>
            </a:r>
          </a:p>
        </p:txBody>
      </p:sp>
    </p:spTree>
    <p:extLst>
      <p:ext uri="{BB962C8B-B14F-4D97-AF65-F5344CB8AC3E}">
        <p14:creationId xmlns:p14="http://schemas.microsoft.com/office/powerpoint/2010/main" val="3178608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B9673-8239-273B-88E7-50F5DA2F2F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17B5B-C93A-A296-7A7D-0B88C2A21085}"/>
              </a:ext>
            </a:extLst>
          </p:cNvPr>
          <p:cNvSpPr>
            <a:spLocks noGrp="1"/>
          </p:cNvSpPr>
          <p:nvPr>
            <p:ph type="title"/>
          </p:nvPr>
        </p:nvSpPr>
        <p:spPr>
          <a:xfrm>
            <a:off x="838198" y="14235"/>
            <a:ext cx="10515600" cy="1325563"/>
          </a:xfrm>
        </p:spPr>
        <p:txBody>
          <a:bodyPr>
            <a:normAutofit/>
          </a:bodyPr>
          <a:lstStyle/>
          <a:p>
            <a:pPr algn="ctr"/>
            <a:r>
              <a:rPr lang="en-US" sz="4000" dirty="0"/>
              <a:t>Table 6: Goal Temp = 1180 C Results (Swapped back)</a:t>
            </a:r>
          </a:p>
        </p:txBody>
      </p:sp>
      <p:graphicFrame>
        <p:nvGraphicFramePr>
          <p:cNvPr id="4" name="Content Placeholder 3">
            <a:extLst>
              <a:ext uri="{FF2B5EF4-FFF2-40B4-BE49-F238E27FC236}">
                <a16:creationId xmlns:a16="http://schemas.microsoft.com/office/drawing/2014/main" id="{725BC987-F3FB-3FC3-4343-9338D2618784}"/>
              </a:ext>
            </a:extLst>
          </p:cNvPr>
          <p:cNvGraphicFramePr>
            <a:graphicFrameLocks noGrp="1"/>
          </p:cNvGraphicFramePr>
          <p:nvPr>
            <p:ph idx="1"/>
            <p:extLst>
              <p:ext uri="{D42A27DB-BD31-4B8C-83A1-F6EECF244321}">
                <p14:modId xmlns:p14="http://schemas.microsoft.com/office/powerpoint/2010/main" val="2459982410"/>
              </p:ext>
            </p:extLst>
          </p:nvPr>
        </p:nvGraphicFramePr>
        <p:xfrm>
          <a:off x="838199" y="1379486"/>
          <a:ext cx="10515599" cy="4144645"/>
        </p:xfrm>
        <a:graphic>
          <a:graphicData uri="http://schemas.openxmlformats.org/drawingml/2006/table">
            <a:tbl>
              <a:tblPr firstRow="1" bandRow="1">
                <a:tableStyleId>{5C22544A-7EE6-4342-B048-85BDC9FD1C3A}</a:tableStyleId>
              </a:tblPr>
              <a:tblGrid>
                <a:gridCol w="541564">
                  <a:extLst>
                    <a:ext uri="{9D8B030D-6E8A-4147-A177-3AD203B41FA5}">
                      <a16:colId xmlns:a16="http://schemas.microsoft.com/office/drawing/2014/main" val="2932479768"/>
                    </a:ext>
                  </a:extLst>
                </a:gridCol>
                <a:gridCol w="1257300">
                  <a:extLst>
                    <a:ext uri="{9D8B030D-6E8A-4147-A177-3AD203B41FA5}">
                      <a16:colId xmlns:a16="http://schemas.microsoft.com/office/drawing/2014/main" val="1137581038"/>
                    </a:ext>
                  </a:extLst>
                </a:gridCol>
                <a:gridCol w="1126672">
                  <a:extLst>
                    <a:ext uri="{9D8B030D-6E8A-4147-A177-3AD203B41FA5}">
                      <a16:colId xmlns:a16="http://schemas.microsoft.com/office/drawing/2014/main" val="3818947068"/>
                    </a:ext>
                  </a:extLst>
                </a:gridCol>
                <a:gridCol w="1510393">
                  <a:extLst>
                    <a:ext uri="{9D8B030D-6E8A-4147-A177-3AD203B41FA5}">
                      <a16:colId xmlns:a16="http://schemas.microsoft.com/office/drawing/2014/main" val="873923221"/>
                    </a:ext>
                  </a:extLst>
                </a:gridCol>
                <a:gridCol w="1053192">
                  <a:extLst>
                    <a:ext uri="{9D8B030D-6E8A-4147-A177-3AD203B41FA5}">
                      <a16:colId xmlns:a16="http://schemas.microsoft.com/office/drawing/2014/main" val="2973435756"/>
                    </a:ext>
                  </a:extLst>
                </a:gridCol>
                <a:gridCol w="1468727">
                  <a:extLst>
                    <a:ext uri="{9D8B030D-6E8A-4147-A177-3AD203B41FA5}">
                      <a16:colId xmlns:a16="http://schemas.microsoft.com/office/drawing/2014/main" val="3517002371"/>
                    </a:ext>
                  </a:extLst>
                </a:gridCol>
                <a:gridCol w="3557751">
                  <a:extLst>
                    <a:ext uri="{9D8B030D-6E8A-4147-A177-3AD203B41FA5}">
                      <a16:colId xmlns:a16="http://schemas.microsoft.com/office/drawing/2014/main" val="2705001639"/>
                    </a:ext>
                  </a:extLst>
                </a:gridCol>
              </a:tblGrid>
              <a:tr h="370840">
                <a:tc>
                  <a:txBody>
                    <a:bodyPr/>
                    <a:lstStyle/>
                    <a:p>
                      <a:pPr algn="ctr" fontAlgn="ctr"/>
                      <a:r>
                        <a:rPr lang="en-US" sz="1400" b="1" i="0" u="none" strike="noStrike" dirty="0">
                          <a:solidFill>
                            <a:schemeClr val="bg1"/>
                          </a:solidFill>
                          <a:effectLst/>
                          <a:latin typeface="+mj-lt"/>
                        </a:rPr>
                        <a:t>IJB TC</a:t>
                      </a:r>
                    </a:p>
                  </a:txBody>
                  <a:tcPr marL="9525" marR="9525" marT="9525" marB="0" anchor="ctr"/>
                </a:tc>
                <a:tc>
                  <a:txBody>
                    <a:bodyPr/>
                    <a:lstStyle/>
                    <a:p>
                      <a:pPr algn="ctr" fontAlgn="ctr"/>
                      <a:r>
                        <a:rPr lang="en-US" sz="1400" b="1" i="0" u="none" strike="noStrike" dirty="0">
                          <a:solidFill>
                            <a:schemeClr val="bg1"/>
                          </a:solidFill>
                          <a:effectLst/>
                          <a:latin typeface="+mj-lt"/>
                        </a:rPr>
                        <a:t>TIC TC Channel (Part 2)</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Corresponding TIC TC Channel (Part 3)</a:t>
                      </a:r>
                    </a:p>
                  </a:txBody>
                  <a:tcPr marL="9525" marR="9525" marT="9525" marB="0" anchor="ctr"/>
                </a:tc>
                <a:tc>
                  <a:txBody>
                    <a:bodyPr/>
                    <a:lstStyle/>
                    <a:p>
                      <a:pPr algn="ctr" fontAlgn="ctr"/>
                      <a:r>
                        <a:rPr lang="en-US" sz="1400" b="1" i="0" u="none" strike="noStrike" dirty="0">
                          <a:solidFill>
                            <a:schemeClr val="bg1"/>
                          </a:solidFill>
                          <a:effectLst/>
                          <a:latin typeface="+mj-lt"/>
                        </a:rPr>
                        <a:t>Temperature (Part 3,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Temperature Delta (Part 3 – Part 2, </a:t>
                      </a:r>
                      <a:r>
                        <a:rPr lang="en-US" sz="1400" dirty="0">
                          <a:solidFill>
                            <a:schemeClr val="bg1"/>
                          </a:solidFill>
                          <a:latin typeface="+mj-lt"/>
                        </a:rPr>
                        <a:t>°</a:t>
                      </a:r>
                      <a:r>
                        <a:rPr lang="en-US" sz="1400" b="1" i="0" u="none" strike="noStrike" dirty="0">
                          <a:solidFill>
                            <a:schemeClr val="bg1"/>
                          </a:solidFill>
                          <a:effectLst/>
                          <a:latin typeface="+mj-lt"/>
                        </a:rPr>
                        <a:t>C)</a:t>
                      </a:r>
                    </a:p>
                  </a:txBody>
                  <a:tcPr marL="9525" marR="9525" marT="9525" marB="0" anchor="ctr"/>
                </a:tc>
                <a:tc>
                  <a:txBody>
                    <a:bodyPr/>
                    <a:lstStyle/>
                    <a:p>
                      <a:pPr algn="ctr" fontAlgn="ctr"/>
                      <a:r>
                        <a:rPr lang="en-US" sz="1400" b="1" i="0" u="none" strike="noStrike" dirty="0">
                          <a:solidFill>
                            <a:schemeClr val="bg1"/>
                          </a:solidFill>
                          <a:effectLst/>
                          <a:latin typeface="+mj-lt"/>
                        </a:rPr>
                        <a:t>Notes</a:t>
                      </a:r>
                    </a:p>
                  </a:txBody>
                  <a:tcPr marL="9525" marR="9525" marT="9525" marB="0" anchor="ctr"/>
                </a:tc>
                <a:extLst>
                  <a:ext uri="{0D108BD9-81ED-4DB2-BD59-A6C34878D82A}">
                    <a16:rowId xmlns:a16="http://schemas.microsoft.com/office/drawing/2014/main" val="3104794286"/>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1155.37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1155.19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-0.18</a:t>
                      </a:r>
                    </a:p>
                  </a:txBody>
                  <a:tcPr marL="9525" marR="9525" marT="9525" marB="0" anchor="ctr"/>
                </a:tc>
                <a:tc>
                  <a:txBody>
                    <a:bodyPr/>
                    <a:lstStyle/>
                    <a:p>
                      <a:pPr lvl="0" algn="ctr" fontAlgn="ctr"/>
                      <a:r>
                        <a:rPr lang="en-US" sz="1600" b="0" i="0" u="none" strike="noStrike">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129115819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1171.54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1171.53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4081047939"/>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1167.95</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1167.78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-0.17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3824230301"/>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1170.25</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1169.98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-0.27</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1363448347"/>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A4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1151.60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1151.49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-0.11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557186673"/>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21.48</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21.5</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Spare – Recording ambient temperature. </a:t>
                      </a:r>
                    </a:p>
                  </a:txBody>
                  <a:tcPr marL="9525" marR="9525" marT="9525" marB="0" anchor="ctr"/>
                </a:tc>
                <a:extLst>
                  <a:ext uri="{0D108BD9-81ED-4DB2-BD59-A6C34878D82A}">
                    <a16:rowId xmlns:a16="http://schemas.microsoft.com/office/drawing/2014/main" val="3288867205"/>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1152.19</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TC11</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1152.20</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0.01</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TC0014</a:t>
                      </a:r>
                    </a:p>
                  </a:txBody>
                  <a:tcPr marL="9525" marR="9525" marT="9525" marB="0" anchor="ctr"/>
                </a:tc>
                <a:extLst>
                  <a:ext uri="{0D108BD9-81ED-4DB2-BD59-A6C34878D82A}">
                    <a16:rowId xmlns:a16="http://schemas.microsoft.com/office/drawing/2014/main" val="267498730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1173.34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1173.36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0.02</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TC0004</a:t>
                      </a:r>
                    </a:p>
                  </a:txBody>
                  <a:tcPr marL="9525" marR="9525" marT="9525" marB="0" anchor="ctr"/>
                </a:tc>
                <a:extLst>
                  <a:ext uri="{0D108BD9-81ED-4DB2-BD59-A6C34878D82A}">
                    <a16:rowId xmlns:a16="http://schemas.microsoft.com/office/drawing/2014/main" val="3847991968"/>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1167.56</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1167.53</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-0.03</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555110630"/>
                  </a:ext>
                </a:extLst>
              </a:tr>
              <a:tr h="370840">
                <a:tc>
                  <a:txBody>
                    <a:bodyPr/>
                    <a:lstStyle/>
                    <a:p>
                      <a:pPr lvl="0" algn="ctr" fontAlgn="b"/>
                      <a:r>
                        <a:rPr lang="en-US" sz="1600" b="0" i="0" u="none" strike="noStrike" dirty="0">
                          <a:solidFill>
                            <a:srgbClr val="000000"/>
                          </a:solidFill>
                          <a:effectLst/>
                          <a:latin typeface="Aptos Narrow" panose="020B0004020202020204" pitchFamily="34" charset="0"/>
                        </a:rPr>
                        <a:t>B4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TC04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1169.32</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TC14</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1169.37</a:t>
                      </a:r>
                    </a:p>
                  </a:txBody>
                  <a:tcPr marL="9525" marR="9525" marT="9525" marB="0" anchor="ctr"/>
                </a:tc>
                <a:tc>
                  <a:txBody>
                    <a:bodyPr/>
                    <a:lstStyle/>
                    <a:p>
                      <a:pPr lvl="0" algn="ctr" fontAlgn="b"/>
                      <a:r>
                        <a:rPr lang="en-US" sz="1600" b="0" i="0" u="none" strike="noStrike" dirty="0">
                          <a:solidFill>
                            <a:srgbClr val="000000"/>
                          </a:solidFill>
                          <a:effectLst/>
                          <a:latin typeface="Aptos Narrow" panose="020B0004020202020204" pitchFamily="34" charset="0"/>
                        </a:rPr>
                        <a:t>0.05</a:t>
                      </a:r>
                    </a:p>
                  </a:txBody>
                  <a:tcPr marL="9525" marR="9525" marT="9525" marB="0" anchor="ctr"/>
                </a:tc>
                <a:tc>
                  <a:txBody>
                    <a:bodyPr/>
                    <a:lstStyle/>
                    <a:p>
                      <a:pPr lvl="0" algn="ctr" fontAlgn="ctr"/>
                      <a:r>
                        <a:rPr lang="en-US" sz="1600" b="0" i="0" u="none" strike="noStrike" dirty="0">
                          <a:solidFill>
                            <a:srgbClr val="000000"/>
                          </a:solidFill>
                          <a:effectLst/>
                          <a:latin typeface="Aptos Narrow" panose="020B0004020202020204" pitchFamily="34" charset="0"/>
                        </a:rPr>
                        <a:t>Legacy T0011</a:t>
                      </a:r>
                    </a:p>
                  </a:txBody>
                  <a:tcPr marL="9525" marR="9525" marT="9525" marB="0" anchor="ctr"/>
                </a:tc>
                <a:extLst>
                  <a:ext uri="{0D108BD9-81ED-4DB2-BD59-A6C34878D82A}">
                    <a16:rowId xmlns:a16="http://schemas.microsoft.com/office/drawing/2014/main" val="2143311268"/>
                  </a:ext>
                </a:extLst>
              </a:tr>
            </a:tbl>
          </a:graphicData>
        </a:graphic>
      </p:graphicFrame>
      <p:sp>
        <p:nvSpPr>
          <p:cNvPr id="5" name="TextBox 4">
            <a:extLst>
              <a:ext uri="{FF2B5EF4-FFF2-40B4-BE49-F238E27FC236}">
                <a16:creationId xmlns:a16="http://schemas.microsoft.com/office/drawing/2014/main" id="{B2886F54-94FD-B5C1-EC8A-C171C7F244BF}"/>
              </a:ext>
            </a:extLst>
          </p:cNvPr>
          <p:cNvSpPr txBox="1"/>
          <p:nvPr/>
        </p:nvSpPr>
        <p:spPr>
          <a:xfrm>
            <a:off x="650324" y="6186223"/>
            <a:ext cx="10891345" cy="369332"/>
          </a:xfrm>
          <a:prstGeom prst="rect">
            <a:avLst/>
          </a:prstGeom>
          <a:noFill/>
          <a:ln w="38100">
            <a:solidFill>
              <a:schemeClr val="accent1">
                <a:lumMod val="60000"/>
                <a:lumOff val="40000"/>
              </a:schemeClr>
            </a:solidFill>
          </a:ln>
        </p:spPr>
        <p:txBody>
          <a:bodyPr wrap="square" rtlCol="0">
            <a:spAutoFit/>
          </a:bodyPr>
          <a:lstStyle/>
          <a:p>
            <a:r>
              <a:rPr lang="en-US" dirty="0"/>
              <a:t>Deltas range from -</a:t>
            </a:r>
            <a:r>
              <a:rPr lang="en-US" b="1" dirty="0"/>
              <a:t>0.27°C to +0.05°C</a:t>
            </a:r>
            <a:r>
              <a:rPr lang="en-US" dirty="0"/>
              <a:t>, larger magnitude deltas but still negligible.</a:t>
            </a:r>
          </a:p>
        </p:txBody>
      </p:sp>
    </p:spTree>
    <p:extLst>
      <p:ext uri="{BB962C8B-B14F-4D97-AF65-F5344CB8AC3E}">
        <p14:creationId xmlns:p14="http://schemas.microsoft.com/office/powerpoint/2010/main" val="2859323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a swap test&#10;&#10;Description automatically generated with medium confidence">
            <a:extLst>
              <a:ext uri="{FF2B5EF4-FFF2-40B4-BE49-F238E27FC236}">
                <a16:creationId xmlns:a16="http://schemas.microsoft.com/office/drawing/2014/main" id="{39E49375-210A-FA60-5D32-7BF0122E6950}"/>
              </a:ext>
            </a:extLst>
          </p:cNvPr>
          <p:cNvPicPr>
            <a:picLocks noGrp="1" noRot="1" noChangeAspect="1" noMove="1" noResize="1" noEditPoints="1" noAdjustHandles="1" noChangeArrowheads="1" noChangeShapeType="1" noCrop="1"/>
          </p:cNvPicPr>
          <p:nvPr>
            <p:ph idx="1"/>
          </p:nvPr>
        </p:nvPicPr>
        <p:blipFill>
          <a:blip r:embed="rId2"/>
          <a:stretch>
            <a:fillRect/>
          </a:stretch>
        </p:blipFill>
        <p:spPr>
          <a:xfrm>
            <a:off x="-1122602" y="0"/>
            <a:ext cx="12001499" cy="6858000"/>
          </a:xfrm>
        </p:spPr>
      </p:pic>
      <p:sp>
        <p:nvSpPr>
          <p:cNvPr id="6" name="TextBox 5">
            <a:extLst>
              <a:ext uri="{FF2B5EF4-FFF2-40B4-BE49-F238E27FC236}">
                <a16:creationId xmlns:a16="http://schemas.microsoft.com/office/drawing/2014/main" id="{558441E1-0674-6CE6-F0A0-C9BBAABD9C9D}"/>
              </a:ext>
            </a:extLst>
          </p:cNvPr>
          <p:cNvSpPr txBox="1"/>
          <p:nvPr/>
        </p:nvSpPr>
        <p:spPr>
          <a:xfrm>
            <a:off x="10886071" y="4502133"/>
            <a:ext cx="1313104" cy="523220"/>
          </a:xfrm>
          <a:prstGeom prst="rect">
            <a:avLst/>
          </a:prstGeom>
          <a:noFill/>
        </p:spPr>
        <p:txBody>
          <a:bodyPr wrap="square" rtlCol="0">
            <a:spAutoFit/>
          </a:bodyPr>
          <a:lstStyle/>
          <a:p>
            <a:r>
              <a:rPr lang="en-US" dirty="0">
                <a:solidFill>
                  <a:srgbClr val="C00000"/>
                </a:solidFill>
              </a:rPr>
              <a:t>Bundle 1</a:t>
            </a:r>
          </a:p>
          <a:p>
            <a:r>
              <a:rPr lang="el-GR" sz="1000" b="0" i="0" dirty="0">
                <a:solidFill>
                  <a:srgbClr val="C00000"/>
                </a:solidFill>
                <a:effectLst/>
                <a:latin typeface="Google Sans"/>
              </a:rPr>
              <a:t>Δ</a:t>
            </a:r>
            <a:r>
              <a:rPr lang="en-US" sz="1000" b="0" i="0" dirty="0" err="1">
                <a:solidFill>
                  <a:srgbClr val="C00000"/>
                </a:solidFill>
                <a:effectLst/>
                <a:latin typeface="Google Sans"/>
              </a:rPr>
              <a:t>T</a:t>
            </a:r>
            <a:r>
              <a:rPr lang="en-US" sz="1000" b="0" i="0" baseline="-25000" dirty="0" err="1">
                <a:solidFill>
                  <a:srgbClr val="C00000"/>
                </a:solidFill>
                <a:effectLst/>
                <a:latin typeface="Google Sans"/>
              </a:rPr>
              <a:t>New</a:t>
            </a:r>
            <a:r>
              <a:rPr lang="en-US" sz="1000" b="0" i="0" baseline="-25000" dirty="0">
                <a:solidFill>
                  <a:srgbClr val="C00000"/>
                </a:solidFill>
                <a:effectLst/>
                <a:latin typeface="Google Sans"/>
              </a:rPr>
              <a:t> – Legacy</a:t>
            </a:r>
            <a:r>
              <a:rPr lang="en-US" sz="1000" b="0" i="0" dirty="0">
                <a:solidFill>
                  <a:srgbClr val="C00000"/>
                </a:solidFill>
                <a:effectLst/>
                <a:latin typeface="Google Sans"/>
              </a:rPr>
              <a:t> ~ 0.41 </a:t>
            </a:r>
            <a:r>
              <a:rPr lang="en-US" sz="1000" dirty="0">
                <a:solidFill>
                  <a:srgbClr val="C00000"/>
                </a:solidFill>
              </a:rPr>
              <a:t>°C </a:t>
            </a:r>
          </a:p>
        </p:txBody>
      </p:sp>
      <p:sp>
        <p:nvSpPr>
          <p:cNvPr id="7" name="TextBox 6">
            <a:extLst>
              <a:ext uri="{FF2B5EF4-FFF2-40B4-BE49-F238E27FC236}">
                <a16:creationId xmlns:a16="http://schemas.microsoft.com/office/drawing/2014/main" id="{4167AD64-2816-BBF9-3E56-74F1098AC021}"/>
              </a:ext>
            </a:extLst>
          </p:cNvPr>
          <p:cNvSpPr txBox="1"/>
          <p:nvPr/>
        </p:nvSpPr>
        <p:spPr>
          <a:xfrm>
            <a:off x="10878897" y="0"/>
            <a:ext cx="1327453" cy="677108"/>
          </a:xfrm>
          <a:prstGeom prst="rect">
            <a:avLst/>
          </a:prstGeom>
          <a:noFill/>
        </p:spPr>
        <p:txBody>
          <a:bodyPr wrap="square" rtlCol="0">
            <a:spAutoFit/>
          </a:bodyPr>
          <a:lstStyle/>
          <a:p>
            <a:r>
              <a:rPr lang="en-US" dirty="0">
                <a:solidFill>
                  <a:schemeClr val="tx2">
                    <a:lumMod val="75000"/>
                    <a:lumOff val="25000"/>
                  </a:schemeClr>
                </a:solidFill>
              </a:rPr>
              <a:t>Bundle 2</a:t>
            </a:r>
          </a:p>
          <a:p>
            <a:r>
              <a:rPr lang="el-GR" sz="1000" b="0" i="0" dirty="0">
                <a:solidFill>
                  <a:schemeClr val="tx2">
                    <a:lumMod val="75000"/>
                    <a:lumOff val="25000"/>
                  </a:schemeClr>
                </a:solidFill>
                <a:effectLst/>
                <a:latin typeface="Google Sans"/>
              </a:rPr>
              <a:t>Δ</a:t>
            </a:r>
            <a:r>
              <a:rPr lang="en-US" sz="1000" b="0" i="0" dirty="0" err="1">
                <a:solidFill>
                  <a:schemeClr val="tx2">
                    <a:lumMod val="75000"/>
                    <a:lumOff val="25000"/>
                  </a:schemeClr>
                </a:solidFill>
                <a:effectLst/>
                <a:latin typeface="Google Sans"/>
              </a:rPr>
              <a:t>T</a:t>
            </a:r>
            <a:r>
              <a:rPr lang="en-US" sz="1000" b="0" i="0" baseline="-25000" dirty="0" err="1">
                <a:solidFill>
                  <a:schemeClr val="tx2">
                    <a:lumMod val="75000"/>
                    <a:lumOff val="25000"/>
                  </a:schemeClr>
                </a:solidFill>
                <a:effectLst/>
                <a:latin typeface="Google Sans"/>
              </a:rPr>
              <a:t>New</a:t>
            </a:r>
            <a:r>
              <a:rPr lang="en-US" sz="1000" b="0" i="0" baseline="-25000" dirty="0">
                <a:solidFill>
                  <a:schemeClr val="tx2">
                    <a:lumMod val="75000"/>
                    <a:lumOff val="25000"/>
                  </a:schemeClr>
                </a:solidFill>
                <a:effectLst/>
                <a:latin typeface="Google Sans"/>
              </a:rPr>
              <a:t> – Legacy</a:t>
            </a:r>
            <a:r>
              <a:rPr lang="en-US" sz="1000" b="0" i="0" dirty="0">
                <a:solidFill>
                  <a:schemeClr val="tx2">
                    <a:lumMod val="75000"/>
                    <a:lumOff val="25000"/>
                  </a:schemeClr>
                </a:solidFill>
                <a:effectLst/>
                <a:latin typeface="Google Sans"/>
              </a:rPr>
              <a:t> ~ -1</a:t>
            </a:r>
            <a:r>
              <a:rPr lang="en-US" sz="1000" dirty="0">
                <a:solidFill>
                  <a:schemeClr val="tx2">
                    <a:lumMod val="75000"/>
                    <a:lumOff val="25000"/>
                  </a:schemeClr>
                </a:solidFill>
                <a:latin typeface="Google Sans"/>
              </a:rPr>
              <a:t>.22</a:t>
            </a:r>
            <a:r>
              <a:rPr lang="en-US" sz="1000" b="0" i="0" dirty="0">
                <a:solidFill>
                  <a:schemeClr val="tx2">
                    <a:lumMod val="75000"/>
                    <a:lumOff val="25000"/>
                  </a:schemeClr>
                </a:solidFill>
                <a:effectLst/>
                <a:latin typeface="Google Sans"/>
              </a:rPr>
              <a:t> </a:t>
            </a:r>
            <a:r>
              <a:rPr lang="en-US" sz="1000" dirty="0">
                <a:solidFill>
                  <a:schemeClr val="tx2">
                    <a:lumMod val="75000"/>
                    <a:lumOff val="25000"/>
                  </a:schemeClr>
                </a:solidFill>
              </a:rPr>
              <a:t>°C </a:t>
            </a:r>
          </a:p>
        </p:txBody>
      </p:sp>
      <p:sp>
        <p:nvSpPr>
          <p:cNvPr id="8" name="TextBox 7">
            <a:extLst>
              <a:ext uri="{FF2B5EF4-FFF2-40B4-BE49-F238E27FC236}">
                <a16:creationId xmlns:a16="http://schemas.microsoft.com/office/drawing/2014/main" id="{5AA97D0A-419E-8974-AF1A-30B26BA1D955}"/>
              </a:ext>
            </a:extLst>
          </p:cNvPr>
          <p:cNvSpPr txBox="1"/>
          <p:nvPr/>
        </p:nvSpPr>
        <p:spPr>
          <a:xfrm>
            <a:off x="10886071" y="908358"/>
            <a:ext cx="1327453" cy="523220"/>
          </a:xfrm>
          <a:prstGeom prst="rect">
            <a:avLst/>
          </a:prstGeom>
          <a:noFill/>
        </p:spPr>
        <p:txBody>
          <a:bodyPr wrap="square" rtlCol="0">
            <a:spAutoFit/>
          </a:bodyPr>
          <a:lstStyle/>
          <a:p>
            <a:r>
              <a:rPr lang="en-US" dirty="0">
                <a:solidFill>
                  <a:schemeClr val="accent2"/>
                </a:solidFill>
              </a:rPr>
              <a:t>Bundle 3</a:t>
            </a:r>
          </a:p>
          <a:p>
            <a:r>
              <a:rPr lang="el-GR" sz="1000" b="0" i="0" dirty="0">
                <a:solidFill>
                  <a:schemeClr val="accent2"/>
                </a:solidFill>
                <a:effectLst/>
                <a:latin typeface="Google Sans"/>
              </a:rPr>
              <a:t>Δ</a:t>
            </a:r>
            <a:r>
              <a:rPr lang="en-US" sz="1000" b="0" i="0" dirty="0" err="1">
                <a:solidFill>
                  <a:schemeClr val="accent2"/>
                </a:solidFill>
                <a:effectLst/>
                <a:latin typeface="Google Sans"/>
              </a:rPr>
              <a:t>T</a:t>
            </a:r>
            <a:r>
              <a:rPr lang="en-US" sz="1000" b="0" i="0" baseline="-25000" dirty="0" err="1">
                <a:solidFill>
                  <a:schemeClr val="accent2"/>
                </a:solidFill>
                <a:effectLst/>
                <a:latin typeface="Google Sans"/>
              </a:rPr>
              <a:t>New</a:t>
            </a:r>
            <a:r>
              <a:rPr lang="en-US" sz="1000" b="0" i="0" baseline="-25000" dirty="0">
                <a:solidFill>
                  <a:schemeClr val="accent2"/>
                </a:solidFill>
                <a:effectLst/>
                <a:latin typeface="Google Sans"/>
              </a:rPr>
              <a:t> – Legacy</a:t>
            </a:r>
            <a:r>
              <a:rPr lang="en-US" sz="1000" b="0" i="0" dirty="0">
                <a:solidFill>
                  <a:schemeClr val="accent2"/>
                </a:solidFill>
                <a:effectLst/>
                <a:latin typeface="Google Sans"/>
              </a:rPr>
              <a:t> ~ </a:t>
            </a:r>
            <a:r>
              <a:rPr lang="en-US" sz="1000" dirty="0">
                <a:solidFill>
                  <a:schemeClr val="accent2"/>
                </a:solidFill>
                <a:latin typeface="Google Sans"/>
              </a:rPr>
              <a:t>2.44</a:t>
            </a:r>
            <a:r>
              <a:rPr lang="en-US" sz="1000" b="0" i="0" dirty="0">
                <a:solidFill>
                  <a:schemeClr val="accent2"/>
                </a:solidFill>
                <a:effectLst/>
                <a:latin typeface="Google Sans"/>
              </a:rPr>
              <a:t> </a:t>
            </a:r>
            <a:r>
              <a:rPr lang="en-US" sz="1000" dirty="0">
                <a:solidFill>
                  <a:schemeClr val="accent2"/>
                </a:solidFill>
              </a:rPr>
              <a:t>°C </a:t>
            </a:r>
          </a:p>
        </p:txBody>
      </p:sp>
      <p:sp>
        <p:nvSpPr>
          <p:cNvPr id="9" name="Oval 8">
            <a:extLst>
              <a:ext uri="{FF2B5EF4-FFF2-40B4-BE49-F238E27FC236}">
                <a16:creationId xmlns:a16="http://schemas.microsoft.com/office/drawing/2014/main" id="{EC468440-A48A-9CF5-757E-F334B3E90D7F}"/>
              </a:ext>
            </a:extLst>
          </p:cNvPr>
          <p:cNvSpPr/>
          <p:nvPr/>
        </p:nvSpPr>
        <p:spPr>
          <a:xfrm>
            <a:off x="9389888" y="4502133"/>
            <a:ext cx="327980" cy="1472783"/>
          </a:xfrm>
          <a:prstGeom prst="ellipse">
            <a:avLst/>
          </a:prstGeom>
          <a:noFill/>
          <a:ln>
            <a:solidFill>
              <a:srgbClr val="C0000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33AFE199-643C-6D24-F02C-ABAA173E9465}"/>
              </a:ext>
            </a:extLst>
          </p:cNvPr>
          <p:cNvSpPr/>
          <p:nvPr/>
        </p:nvSpPr>
        <p:spPr>
          <a:xfrm>
            <a:off x="9389888" y="720461"/>
            <a:ext cx="330769" cy="899014"/>
          </a:xfrm>
          <a:prstGeom prst="ellipse">
            <a:avLst/>
          </a:prstGeom>
          <a:noFill/>
          <a:ln>
            <a:solidFill>
              <a:schemeClr val="accent1"/>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426AE789-650B-04C5-2746-23CDDD09C247}"/>
              </a:ext>
            </a:extLst>
          </p:cNvPr>
          <p:cNvSpPr/>
          <p:nvPr/>
        </p:nvSpPr>
        <p:spPr>
          <a:xfrm>
            <a:off x="9389888" y="1619475"/>
            <a:ext cx="327980" cy="906270"/>
          </a:xfrm>
          <a:prstGeom prst="ellipse">
            <a:avLst/>
          </a:prstGeom>
          <a:noFill/>
          <a:ln>
            <a:solidFill>
              <a:schemeClr val="accent2"/>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C7C0D8F-75DB-4757-1DAC-6FAAEBF62464}"/>
              </a:ext>
            </a:extLst>
          </p:cNvPr>
          <p:cNvCxnSpPr>
            <a:cxnSpLocks/>
            <a:stCxn id="7" idx="1"/>
            <a:endCxn id="10" idx="6"/>
          </p:cNvCxnSpPr>
          <p:nvPr/>
        </p:nvCxnSpPr>
        <p:spPr>
          <a:xfrm flipH="1">
            <a:off x="9720657" y="338554"/>
            <a:ext cx="1158240" cy="8314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C9A7DC5-8530-7F0A-7943-50BD277A3D68}"/>
              </a:ext>
            </a:extLst>
          </p:cNvPr>
          <p:cNvCxnSpPr>
            <a:cxnSpLocks/>
            <a:stCxn id="8" idx="1"/>
            <a:endCxn id="11" idx="6"/>
          </p:cNvCxnSpPr>
          <p:nvPr/>
        </p:nvCxnSpPr>
        <p:spPr>
          <a:xfrm flipH="1">
            <a:off x="9717868" y="1169968"/>
            <a:ext cx="1168203" cy="90264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C8FCEFA1-A9C0-746E-82F6-087E22F43B6B}"/>
              </a:ext>
            </a:extLst>
          </p:cNvPr>
          <p:cNvCxnSpPr>
            <a:cxnSpLocks/>
            <a:stCxn id="6" idx="1"/>
            <a:endCxn id="9" idx="6"/>
          </p:cNvCxnSpPr>
          <p:nvPr/>
        </p:nvCxnSpPr>
        <p:spPr>
          <a:xfrm flipH="1">
            <a:off x="9717868" y="4763743"/>
            <a:ext cx="1168203" cy="474782"/>
          </a:xfrm>
          <a:prstGeom prst="straightConnector1">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pic>
        <p:nvPicPr>
          <p:cNvPr id="29" name="Picture 28" descr="A group of text with stars and text&#10;&#10;Description automatically generated with medium confidence">
            <a:extLst>
              <a:ext uri="{FF2B5EF4-FFF2-40B4-BE49-F238E27FC236}">
                <a16:creationId xmlns:a16="http://schemas.microsoft.com/office/drawing/2014/main" id="{3049602A-D983-FBE6-E0A7-732091E65416}"/>
              </a:ext>
            </a:extLst>
          </p:cNvPr>
          <p:cNvPicPr>
            <a:picLocks noChangeAspect="1"/>
          </p:cNvPicPr>
          <p:nvPr/>
        </p:nvPicPr>
        <p:blipFill>
          <a:blip r:embed="rId3"/>
          <a:stretch>
            <a:fillRect/>
          </a:stretch>
        </p:blipFill>
        <p:spPr>
          <a:xfrm>
            <a:off x="745555" y="2586869"/>
            <a:ext cx="982833" cy="1915264"/>
          </a:xfrm>
          <a:prstGeom prst="rect">
            <a:avLst/>
          </a:prstGeom>
          <a:ln>
            <a:solidFill>
              <a:schemeClr val="tx1"/>
            </a:solidFill>
          </a:ln>
        </p:spPr>
      </p:pic>
      <p:pic>
        <p:nvPicPr>
          <p:cNvPr id="31" name="Picture 30" descr="A group of text with stars and a star&#10;&#10;Description automatically generated with medium confidence">
            <a:extLst>
              <a:ext uri="{FF2B5EF4-FFF2-40B4-BE49-F238E27FC236}">
                <a16:creationId xmlns:a16="http://schemas.microsoft.com/office/drawing/2014/main" id="{3D600FDB-76D3-2184-C6E5-641F474FB27D}"/>
              </a:ext>
            </a:extLst>
          </p:cNvPr>
          <p:cNvPicPr>
            <a:picLocks noChangeAspect="1"/>
          </p:cNvPicPr>
          <p:nvPr/>
        </p:nvPicPr>
        <p:blipFill>
          <a:blip r:embed="rId4"/>
          <a:stretch>
            <a:fillRect/>
          </a:stretch>
        </p:blipFill>
        <p:spPr>
          <a:xfrm>
            <a:off x="8510850" y="2586869"/>
            <a:ext cx="966990" cy="1915264"/>
          </a:xfrm>
          <a:prstGeom prst="rect">
            <a:avLst/>
          </a:prstGeom>
          <a:ln>
            <a:solidFill>
              <a:schemeClr val="tx1"/>
            </a:solidFill>
          </a:ln>
        </p:spPr>
      </p:pic>
      <p:pic>
        <p:nvPicPr>
          <p:cNvPr id="33" name="Picture 32">
            <a:extLst>
              <a:ext uri="{FF2B5EF4-FFF2-40B4-BE49-F238E27FC236}">
                <a16:creationId xmlns:a16="http://schemas.microsoft.com/office/drawing/2014/main" id="{A3F78EEB-5EC9-715B-A118-0613022B6C98}"/>
              </a:ext>
            </a:extLst>
          </p:cNvPr>
          <p:cNvPicPr>
            <a:picLocks noChangeAspect="1"/>
          </p:cNvPicPr>
          <p:nvPr/>
        </p:nvPicPr>
        <p:blipFill>
          <a:blip r:embed="rId5"/>
          <a:stretch>
            <a:fillRect/>
          </a:stretch>
        </p:blipFill>
        <p:spPr>
          <a:xfrm>
            <a:off x="4579379" y="3596572"/>
            <a:ext cx="966991" cy="293216"/>
          </a:xfrm>
          <a:prstGeom prst="rect">
            <a:avLst/>
          </a:prstGeom>
          <a:ln>
            <a:solidFill>
              <a:schemeClr val="tx1"/>
            </a:solidFill>
          </a:ln>
        </p:spPr>
      </p:pic>
    </p:spTree>
    <p:extLst>
      <p:ext uri="{BB962C8B-B14F-4D97-AF65-F5344CB8AC3E}">
        <p14:creationId xmlns:p14="http://schemas.microsoft.com/office/powerpoint/2010/main" val="863238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8" name="Content Placeholder 17" descr="A graph showing different colors and numbers&#10;&#10;Description automatically generated">
            <a:extLst>
              <a:ext uri="{FF2B5EF4-FFF2-40B4-BE49-F238E27FC236}">
                <a16:creationId xmlns:a16="http://schemas.microsoft.com/office/drawing/2014/main" id="{806973D2-5AB5-544B-CC8B-B42F778AAE81}"/>
              </a:ext>
            </a:extLst>
          </p:cNvPr>
          <p:cNvPicPr>
            <a:picLocks noGrp="1" noRot="1" noChangeAspect="1" noMove="1" noResize="1" noEditPoints="1" noAdjustHandles="1" noChangeArrowheads="1" noChangeShapeType="1" noCrop="1"/>
          </p:cNvPicPr>
          <p:nvPr>
            <p:ph idx="1"/>
          </p:nvPr>
        </p:nvPicPr>
        <p:blipFill>
          <a:blip r:embed="rId2"/>
          <a:stretch>
            <a:fillRect/>
          </a:stretch>
        </p:blipFill>
        <p:spPr>
          <a:xfrm>
            <a:off x="371468" y="0"/>
            <a:ext cx="10678583" cy="6858000"/>
          </a:xfrm>
        </p:spPr>
      </p:pic>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extBox 6">
            <a:extLst>
              <a:ext uri="{FF2B5EF4-FFF2-40B4-BE49-F238E27FC236}">
                <a16:creationId xmlns:a16="http://schemas.microsoft.com/office/drawing/2014/main" id="{0F6B892C-C6A3-0FBD-853A-957DBE724FA6}"/>
              </a:ext>
            </a:extLst>
          </p:cNvPr>
          <p:cNvSpPr txBox="1"/>
          <p:nvPr/>
        </p:nvSpPr>
        <p:spPr>
          <a:xfrm>
            <a:off x="6063005" y="2970768"/>
            <a:ext cx="509050" cy="369332"/>
          </a:xfrm>
          <a:prstGeom prst="rect">
            <a:avLst/>
          </a:prstGeom>
          <a:noFill/>
        </p:spPr>
        <p:txBody>
          <a:bodyPr wrap="square" rtlCol="0">
            <a:spAutoFit/>
          </a:bodyPr>
          <a:lstStyle/>
          <a:p>
            <a:r>
              <a:rPr lang="en-US" b="1" dirty="0"/>
              <a:t>A3</a:t>
            </a:r>
          </a:p>
        </p:txBody>
      </p:sp>
      <p:sp>
        <p:nvSpPr>
          <p:cNvPr id="8" name="TextBox 7">
            <a:extLst>
              <a:ext uri="{FF2B5EF4-FFF2-40B4-BE49-F238E27FC236}">
                <a16:creationId xmlns:a16="http://schemas.microsoft.com/office/drawing/2014/main" id="{D4CDC4D9-C749-A1B3-EFFF-F6CC44252566}"/>
              </a:ext>
            </a:extLst>
          </p:cNvPr>
          <p:cNvSpPr txBox="1"/>
          <p:nvPr/>
        </p:nvSpPr>
        <p:spPr>
          <a:xfrm>
            <a:off x="6063005" y="4585992"/>
            <a:ext cx="509051" cy="369332"/>
          </a:xfrm>
          <a:prstGeom prst="rect">
            <a:avLst/>
          </a:prstGeom>
          <a:noFill/>
        </p:spPr>
        <p:txBody>
          <a:bodyPr wrap="square" rtlCol="0">
            <a:spAutoFit/>
          </a:bodyPr>
          <a:lstStyle/>
          <a:p>
            <a:r>
              <a:rPr lang="en-US" b="1" dirty="0"/>
              <a:t>A0</a:t>
            </a:r>
          </a:p>
        </p:txBody>
      </p:sp>
      <p:sp>
        <p:nvSpPr>
          <p:cNvPr id="9" name="TextBox 8">
            <a:extLst>
              <a:ext uri="{FF2B5EF4-FFF2-40B4-BE49-F238E27FC236}">
                <a16:creationId xmlns:a16="http://schemas.microsoft.com/office/drawing/2014/main" id="{25A711A6-13F2-A6DF-0965-E15C4232AB6A}"/>
              </a:ext>
            </a:extLst>
          </p:cNvPr>
          <p:cNvSpPr txBox="1"/>
          <p:nvPr/>
        </p:nvSpPr>
        <p:spPr>
          <a:xfrm>
            <a:off x="6096000" y="5180021"/>
            <a:ext cx="443063" cy="369332"/>
          </a:xfrm>
          <a:prstGeom prst="rect">
            <a:avLst/>
          </a:prstGeom>
          <a:noFill/>
        </p:spPr>
        <p:txBody>
          <a:bodyPr wrap="square" rtlCol="0">
            <a:spAutoFit/>
          </a:bodyPr>
          <a:lstStyle/>
          <a:p>
            <a:r>
              <a:rPr lang="en-US" b="1" dirty="0"/>
              <a:t>L2</a:t>
            </a:r>
          </a:p>
        </p:txBody>
      </p:sp>
      <p:sp>
        <p:nvSpPr>
          <p:cNvPr id="11" name="TextBox 10">
            <a:extLst>
              <a:ext uri="{FF2B5EF4-FFF2-40B4-BE49-F238E27FC236}">
                <a16:creationId xmlns:a16="http://schemas.microsoft.com/office/drawing/2014/main" id="{C1181CBE-0AA2-3152-1637-86AB0DEFC013}"/>
              </a:ext>
            </a:extLst>
          </p:cNvPr>
          <p:cNvSpPr txBox="1"/>
          <p:nvPr/>
        </p:nvSpPr>
        <p:spPr>
          <a:xfrm>
            <a:off x="6063005" y="2489088"/>
            <a:ext cx="509050" cy="369332"/>
          </a:xfrm>
          <a:prstGeom prst="rect">
            <a:avLst/>
          </a:prstGeom>
          <a:noFill/>
        </p:spPr>
        <p:txBody>
          <a:bodyPr wrap="square" rtlCol="0">
            <a:spAutoFit/>
          </a:bodyPr>
          <a:lstStyle/>
          <a:p>
            <a:r>
              <a:rPr lang="en-US" b="1" dirty="0"/>
              <a:t>L1</a:t>
            </a:r>
          </a:p>
        </p:txBody>
      </p:sp>
      <p:pic>
        <p:nvPicPr>
          <p:cNvPr id="13" name="Picture 12" descr="A group of colorful arrows with black text&#10;&#10;Description automatically generated">
            <a:extLst>
              <a:ext uri="{FF2B5EF4-FFF2-40B4-BE49-F238E27FC236}">
                <a16:creationId xmlns:a16="http://schemas.microsoft.com/office/drawing/2014/main" id="{2601FD4C-1936-9B8F-CADF-48B482B51F86}"/>
              </a:ext>
            </a:extLst>
          </p:cNvPr>
          <p:cNvPicPr>
            <a:picLocks noChangeAspect="1"/>
          </p:cNvPicPr>
          <p:nvPr/>
        </p:nvPicPr>
        <p:blipFill>
          <a:blip r:embed="rId3"/>
          <a:stretch>
            <a:fillRect/>
          </a:stretch>
        </p:blipFill>
        <p:spPr>
          <a:xfrm>
            <a:off x="2237437" y="969664"/>
            <a:ext cx="1476581" cy="971686"/>
          </a:xfrm>
          <a:prstGeom prst="rect">
            <a:avLst/>
          </a:prstGeom>
          <a:ln>
            <a:solidFill>
              <a:schemeClr val="tx1"/>
            </a:solidFill>
          </a:ln>
        </p:spPr>
      </p:pic>
      <p:sp>
        <p:nvSpPr>
          <p:cNvPr id="14" name="TextBox 13">
            <a:extLst>
              <a:ext uri="{FF2B5EF4-FFF2-40B4-BE49-F238E27FC236}">
                <a16:creationId xmlns:a16="http://schemas.microsoft.com/office/drawing/2014/main" id="{C4058344-7C5E-2205-23AA-00E659910457}"/>
              </a:ext>
            </a:extLst>
          </p:cNvPr>
          <p:cNvSpPr txBox="1"/>
          <p:nvPr/>
        </p:nvSpPr>
        <p:spPr>
          <a:xfrm>
            <a:off x="2227912" y="626377"/>
            <a:ext cx="1490472" cy="338554"/>
          </a:xfrm>
          <a:prstGeom prst="rect">
            <a:avLst/>
          </a:prstGeom>
          <a:noFill/>
          <a:ln>
            <a:solidFill>
              <a:schemeClr val="tx1"/>
            </a:solidFill>
          </a:ln>
        </p:spPr>
        <p:txBody>
          <a:bodyPr wrap="square" rtlCol="0">
            <a:spAutoFit/>
          </a:bodyPr>
          <a:lstStyle/>
          <a:p>
            <a:pPr algn="ctr"/>
            <a:r>
              <a:rPr lang="en-US" sz="1600" b="1" dirty="0"/>
              <a:t>TIC Channel   </a:t>
            </a:r>
          </a:p>
        </p:txBody>
      </p:sp>
    </p:spTree>
    <p:extLst>
      <p:ext uri="{BB962C8B-B14F-4D97-AF65-F5344CB8AC3E}">
        <p14:creationId xmlns:p14="http://schemas.microsoft.com/office/powerpoint/2010/main" val="4265892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17559</TotalTime>
  <Words>2016</Words>
  <Application>Microsoft Office PowerPoint</Application>
  <PresentationFormat>Widescreen</PresentationFormat>
  <Paragraphs>595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Aptos Display</vt:lpstr>
      <vt:lpstr>Aptos Narrow</vt:lpstr>
      <vt:lpstr>Arial</vt:lpstr>
      <vt:lpstr>Google Sans</vt:lpstr>
      <vt:lpstr>Office Theme</vt:lpstr>
      <vt:lpstr>Meter3 Thermocouple Swap Test</vt:lpstr>
      <vt:lpstr>Description</vt:lpstr>
      <vt:lpstr>PowerPoint Presentation</vt:lpstr>
      <vt:lpstr>Room Temperature Data Details (~20°C)</vt:lpstr>
      <vt:lpstr>Plot Details</vt:lpstr>
      <vt:lpstr>PowerPoint Presentation</vt:lpstr>
      <vt:lpstr>Table 1: Room Temperature Test 1 Results</vt:lpstr>
      <vt:lpstr>Table 2: Room Temperature Test 1 Results (Swapped back)</vt:lpstr>
      <vt:lpstr>PowerPoint Presentation</vt:lpstr>
      <vt:lpstr>Table 3: Room Temperature Results 2</vt:lpstr>
      <vt:lpstr>Table 4: Room Temperature Test 2 Results (Swapped back)</vt:lpstr>
      <vt:lpstr>Analysis of Temperature Deltas</vt:lpstr>
      <vt:lpstr>Results at Room Temperature</vt:lpstr>
      <vt:lpstr>Results at Room Temperature cont.</vt:lpstr>
      <vt:lpstr>Next Steps</vt:lpstr>
      <vt:lpstr>Table 5: Goal Temp = 1180 C Results</vt:lpstr>
      <vt:lpstr>Table 6: Goal Temp = 1180 C Results (Swapped back)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Garcia, Nestor - (nestor212)</dc:creator>
  <cp:lastModifiedBy>Garcia, Nestor - (nestor212)</cp:lastModifiedBy>
  <cp:revision>16</cp:revision>
  <dcterms:created xsi:type="dcterms:W3CDTF">2024-12-04T21:10:33Z</dcterms:created>
  <dcterms:modified xsi:type="dcterms:W3CDTF">2025-01-22T21:21:38Z</dcterms:modified>
</cp:coreProperties>
</file>